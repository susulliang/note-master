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777240"/>
            <a:ext cx="10637215" cy="0"/>
          </a:xfrm>
          <a:prstGeom prst="line">
            <a:avLst/>
          </a:prstGeom>
          <a:noFill/>
          <a:ln w="6350">
            <a:solidFill>
              <a:srgbClr val="D9D9D6"/>
            </a:solidFill>
            <a:prstDash val="solid"/>
          </a:ln>
        </p:spPr>
      </p:sp>
      <p:sp>
        <p:nvSpPr>
          <p:cNvPr id="3" name="Text 1"/>
          <p:cNvSpPr/>
          <p:nvPr/>
        </p:nvSpPr>
        <p:spPr>
          <a:xfrm>
            <a:off x="777240" y="1097280"/>
            <a:ext cx="10637215" cy="365760"/>
          </a:xfrm>
          <a:prstGeom prst="rect">
            <a:avLst/>
          </a:prstGeom>
          <a:noFill/>
          <a:ln/>
        </p:spPr>
        <p:txBody>
          <a:bodyPr wrap="square" lIns="0" tIns="0" rIns="0" bIns="0" rtlCol="0" anchor="ctr"/>
          <a:lstStyle/>
          <a:p>
            <a:pPr indent="0" marL="0">
              <a:buNone/>
            </a:pPr>
            <a:r>
              <a:rPr lang="en-US" sz="1300" b="1" spc="400" kern="0" dirty="0">
                <a:solidFill>
                  <a:srgbClr val="0A84FF"/>
                </a:solidFill>
                <a:latin typeface="Helvetica Neue" pitchFamily="34" charset="0"/>
                <a:ea typeface="Helvetica Neue" pitchFamily="34" charset="-122"/>
                <a:cs typeface="Helvetica Neue" pitchFamily="34" charset="-120"/>
              </a:rPr>
              <a:t>A CONTACT-CENTER NOTE TAKER</a:t>
            </a:r>
            <a:endParaRPr lang="en-US" sz="1300" dirty="0"/>
          </a:p>
        </p:txBody>
      </p:sp>
      <p:sp>
        <p:nvSpPr>
          <p:cNvPr id="4" name="Text 2"/>
          <p:cNvSpPr/>
          <p:nvPr/>
        </p:nvSpPr>
        <p:spPr>
          <a:xfrm>
            <a:off x="777240" y="1920240"/>
            <a:ext cx="10637215" cy="1188720"/>
          </a:xfrm>
          <a:prstGeom prst="rect">
            <a:avLst/>
          </a:prstGeom>
          <a:noFill/>
          <a:ln/>
        </p:spPr>
        <p:txBody>
          <a:bodyPr wrap="square" lIns="0" tIns="0" rIns="0" bIns="0" rtlCol="0" anchor="t"/>
          <a:lstStyle/>
          <a:p>
            <a:pPr indent="0" marL="0">
              <a:lnSpc>
                <a:spcPct val="100000"/>
              </a:lnSpc>
              <a:buNone/>
            </a:pPr>
            <a:r>
              <a:rPr lang="en-US" sz="7200" b="1" dirty="0">
                <a:solidFill>
                  <a:srgbClr val="111114"/>
                </a:solidFill>
                <a:latin typeface="Helvetica Neue" pitchFamily="34" charset="0"/>
                <a:ea typeface="Helvetica Neue" pitchFamily="34" charset="-122"/>
                <a:cs typeface="Helvetica Neue" pitchFamily="34" charset="-120"/>
              </a:rPr>
              <a:t>Hear the call.</a:t>
            </a:r>
            <a:endParaRPr lang="en-US" sz="7200" dirty="0"/>
          </a:p>
        </p:txBody>
      </p:sp>
      <p:sp>
        <p:nvSpPr>
          <p:cNvPr id="5" name="Text 3"/>
          <p:cNvSpPr/>
          <p:nvPr/>
        </p:nvSpPr>
        <p:spPr>
          <a:xfrm>
            <a:off x="777240" y="3017520"/>
            <a:ext cx="10637215" cy="1188720"/>
          </a:xfrm>
          <a:prstGeom prst="rect">
            <a:avLst/>
          </a:prstGeom>
          <a:noFill/>
          <a:ln/>
        </p:spPr>
        <p:txBody>
          <a:bodyPr wrap="square" lIns="0" tIns="0" rIns="0" bIns="0" rtlCol="0" anchor="t"/>
          <a:lstStyle/>
          <a:p>
            <a:pPr indent="0" marL="0">
              <a:lnSpc>
                <a:spcPct val="100000"/>
              </a:lnSpc>
              <a:buNone/>
            </a:pPr>
            <a:r>
              <a:rPr lang="en-US" sz="7200" b="1" dirty="0">
                <a:solidFill>
                  <a:srgbClr val="111114"/>
                </a:solidFill>
                <a:latin typeface="Helvetica Neue" pitchFamily="34" charset="0"/>
                <a:ea typeface="Helvetica Neue" pitchFamily="34" charset="-122"/>
                <a:cs typeface="Helvetica Neue" pitchFamily="34" charset="-120"/>
              </a:rPr>
              <a:t>Fill the note.</a:t>
            </a:r>
            <a:endParaRPr lang="en-US" sz="7200" dirty="0"/>
          </a:p>
        </p:txBody>
      </p:sp>
      <p:sp>
        <p:nvSpPr>
          <p:cNvPr id="6" name="Text 4"/>
          <p:cNvSpPr/>
          <p:nvPr/>
        </p:nvSpPr>
        <p:spPr>
          <a:xfrm>
            <a:off x="777240" y="4114800"/>
            <a:ext cx="10637215" cy="1188720"/>
          </a:xfrm>
          <a:prstGeom prst="rect">
            <a:avLst/>
          </a:prstGeom>
          <a:noFill/>
          <a:ln/>
        </p:spPr>
        <p:txBody>
          <a:bodyPr wrap="square" lIns="0" tIns="0" rIns="0" bIns="0" rtlCol="0" anchor="t"/>
          <a:lstStyle/>
          <a:p>
            <a:pPr indent="0" marL="0">
              <a:lnSpc>
                <a:spcPct val="100000"/>
              </a:lnSpc>
              <a:buNone/>
            </a:pPr>
            <a:r>
              <a:rPr lang="en-US" sz="7200" b="1" dirty="0">
                <a:solidFill>
                  <a:srgbClr val="0A84FF"/>
                </a:solidFill>
                <a:latin typeface="Helvetica Neue" pitchFamily="34" charset="0"/>
                <a:ea typeface="Helvetica Neue" pitchFamily="34" charset="-122"/>
                <a:cs typeface="Helvetica Neue" pitchFamily="34" charset="-120"/>
              </a:rPr>
              <a:t>Ship the ticket.</a:t>
            </a:r>
            <a:endParaRPr lang="en-US" sz="7200" dirty="0"/>
          </a:p>
        </p:txBody>
      </p:sp>
      <p:sp>
        <p:nvSpPr>
          <p:cNvPr id="7" name="Shape 5"/>
          <p:cNvSpPr/>
          <p:nvPr/>
        </p:nvSpPr>
        <p:spPr>
          <a:xfrm>
            <a:off x="777240" y="5943600"/>
            <a:ext cx="10637215" cy="0"/>
          </a:xfrm>
          <a:prstGeom prst="line">
            <a:avLst/>
          </a:prstGeom>
          <a:noFill/>
          <a:ln w="6350">
            <a:solidFill>
              <a:srgbClr val="D9D9D6"/>
            </a:solidFill>
            <a:prstDash val="solid"/>
          </a:ln>
        </p:spPr>
      </p:sp>
      <p:sp>
        <p:nvSpPr>
          <p:cNvPr id="8" name="Text 6"/>
          <p:cNvSpPr/>
          <p:nvPr/>
        </p:nvSpPr>
        <p:spPr>
          <a:xfrm>
            <a:off x="777240" y="6126480"/>
            <a:ext cx="10637215" cy="274320"/>
          </a:xfrm>
          <a:prstGeom prst="rect">
            <a:avLst/>
          </a:prstGeom>
          <a:noFill/>
          <a:ln/>
        </p:spPr>
        <p:txBody>
          <a:bodyPr wrap="square" lIns="0" tIns="0" rIns="0" bIns="0" rtlCol="0" anchor="ctr"/>
          <a:lstStyle/>
          <a:p>
            <a:pPr indent="0" marL="0">
              <a:buNone/>
            </a:pPr>
            <a:r>
              <a:rPr lang="en-US" sz="1100" dirty="0">
                <a:solidFill>
                  <a:srgbClr val="7A7A80"/>
                </a:solidFill>
                <a:latin typeface="Helvetica Neue" pitchFamily="34" charset="0"/>
                <a:ea typeface="Helvetica Neue" pitchFamily="34" charset="-122"/>
                <a:cs typeface="Helvetica Neue" pitchFamily="34" charset="-120"/>
              </a:rPr>
              <a:t>Note Master  ·  v0.2.25  ·  React 19 + Vite 8 + Whisper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THE PROBLEM</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Every agent juggles four things at once.</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377440"/>
            <a:ext cx="8686800" cy="1463040"/>
          </a:xfrm>
          <a:prstGeom prst="rect">
            <a:avLst/>
          </a:prstGeom>
          <a:noFill/>
          <a:ln/>
        </p:spPr>
        <p:txBody>
          <a:bodyPr wrap="square" lIns="0" tIns="0" rIns="0" bIns="0" rtlCol="0" anchor="t"/>
          <a:lstStyle/>
          <a:p>
            <a:pPr indent="0" marL="0">
              <a:lnSpc>
                <a:spcPct val="125000"/>
              </a:lnSpc>
              <a:buNone/>
            </a:pPr>
            <a:r>
              <a:rPr lang="en-US" sz="1700" dirty="0">
                <a:solidFill>
                  <a:srgbClr val="3A3A3F"/>
                </a:solidFill>
                <a:latin typeface="Helvetica Neue" pitchFamily="34" charset="0"/>
                <a:ea typeface="Helvetica Neue" pitchFamily="34" charset="-122"/>
                <a:cs typeface="Helvetica Neue" pitchFamily="34" charset="-120"/>
              </a:rPr>
              <a:t>The customer on the line. The SOP they should be following. The CRM they must type into. And a 90-second QA checklist they cannot forget.</a:t>
            </a:r>
            <a:endParaRPr lang="en-US" sz="1700" dirty="0"/>
          </a:p>
        </p:txBody>
      </p:sp>
      <p:sp>
        <p:nvSpPr>
          <p:cNvPr id="7" name="Text 5"/>
          <p:cNvSpPr/>
          <p:nvPr/>
        </p:nvSpPr>
        <p:spPr>
          <a:xfrm>
            <a:off x="777240" y="3474720"/>
            <a:ext cx="8686800" cy="1463040"/>
          </a:xfrm>
          <a:prstGeom prst="rect">
            <a:avLst/>
          </a:prstGeom>
          <a:noFill/>
          <a:ln/>
        </p:spPr>
        <p:txBody>
          <a:bodyPr wrap="square" lIns="0" tIns="0" rIns="0" bIns="0" rtlCol="0" anchor="t"/>
          <a:lstStyle/>
          <a:p>
            <a:pPr indent="0" marL="0">
              <a:lnSpc>
                <a:spcPct val="125000"/>
              </a:lnSpc>
              <a:buNone/>
            </a:pPr>
            <a:r>
              <a:rPr lang="en-US" sz="1700" dirty="0">
                <a:solidFill>
                  <a:srgbClr val="3A3A3F"/>
                </a:solidFill>
                <a:latin typeface="Helvetica Neue" pitchFamily="34" charset="0"/>
                <a:ea typeface="Helvetica Neue" pitchFamily="34" charset="-122"/>
                <a:cs typeface="Helvetica Neue" pitchFamily="34" charset="-120"/>
              </a:rPr>
              <a:t>Notes get short, fields get skipped, and the next agent picks up a ticket that barely explains what just happened.</a:t>
            </a:r>
            <a:endParaRPr lang="en-US" sz="1700" dirty="0"/>
          </a:p>
        </p:txBody>
      </p:sp>
      <p:sp>
        <p:nvSpPr>
          <p:cNvPr id="8" name="Text 6"/>
          <p:cNvSpPr/>
          <p:nvPr/>
        </p:nvSpPr>
        <p:spPr>
          <a:xfrm>
            <a:off x="777240" y="4754880"/>
            <a:ext cx="10637215" cy="548640"/>
          </a:xfrm>
          <a:prstGeom prst="rect">
            <a:avLst/>
          </a:prstGeom>
          <a:noFill/>
          <a:ln/>
        </p:spPr>
        <p:txBody>
          <a:bodyPr wrap="square" lIns="0" tIns="0" rIns="0" bIns="0" rtlCol="0" anchor="ctr"/>
          <a:lstStyle/>
          <a:p>
            <a:pPr indent="0" marL="0">
              <a:buNone/>
            </a:pPr>
            <a:r>
              <a:rPr lang="en-US" sz="2200" i="1" dirty="0">
                <a:solidFill>
                  <a:srgbClr val="111114"/>
                </a:solidFill>
                <a:latin typeface="Helvetica Neue" pitchFamily="34" charset="0"/>
                <a:ea typeface="Helvetica Neue" pitchFamily="34" charset="-122"/>
                <a:cs typeface="Helvetica Neue" pitchFamily="34" charset="-120"/>
              </a:rPr>
              <a:t>“The note is the product of a support call.”</a:t>
            </a:r>
            <a:endParaRPr lang="en-US" sz="2200" dirty="0"/>
          </a:p>
        </p:txBody>
      </p:sp>
      <p:sp>
        <p:nvSpPr>
          <p:cNvPr id="9" name="Text 7"/>
          <p:cNvSpPr/>
          <p:nvPr/>
        </p:nvSpPr>
        <p:spPr>
          <a:xfrm>
            <a:off x="777240" y="6144768"/>
            <a:ext cx="10637215"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Source: agent shadowing, 2026 Q3 — average handle time vs. note completeness.</a:t>
            </a:r>
            <a:endParaRPr lang="en-US" sz="1000" dirty="0"/>
          </a:p>
        </p:txBody>
      </p:sp>
      <p:sp>
        <p:nvSpPr>
          <p:cNvPr id="10" name="Text 8"/>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THE THESIS</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Let the agent listen. The app does the typing.</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3240938" cy="365760"/>
          </a:xfrm>
          <a:prstGeom prst="rect">
            <a:avLst/>
          </a:prstGeom>
          <a:noFill/>
          <a:ln/>
        </p:spPr>
        <p:txBody>
          <a:bodyPr wrap="none" lIns="0" tIns="0" rIns="0" bIns="0" rtlCol="0" anchor="ctr" vert="horz">
            <a:normAutofit/>
          </a:bodyPr>
          <a:lstStyle/>
          <a:p>
            <a:pPr algn="l" indent="0" marL="0">
              <a:buNone/>
            </a:pPr>
            <a:r>
              <a:rPr lang="en-US" sz="1300" b="1" dirty="0">
                <a:solidFill>
                  <a:srgbClr val="0A84FF"/>
                </a:solidFill>
                <a:latin typeface="Menlo" pitchFamily="34" charset="0"/>
                <a:ea typeface="Menlo" pitchFamily="34" charset="-122"/>
                <a:cs typeface="Menlo" pitchFamily="34" charset="-120"/>
              </a:rPr>
              <a:t>HEAR</a:t>
            </a:r>
            <a:endParaRPr lang="en-US" sz="1300" dirty="0"/>
          </a:p>
        </p:txBody>
      </p:sp>
      <p:sp>
        <p:nvSpPr>
          <p:cNvPr id="7" name="Text 5"/>
          <p:cNvSpPr/>
          <p:nvPr/>
        </p:nvSpPr>
        <p:spPr>
          <a:xfrm>
            <a:off x="777240" y="2880360"/>
            <a:ext cx="3058058" cy="2377440"/>
          </a:xfrm>
          <a:prstGeom prst="rect">
            <a:avLst/>
          </a:prstGeom>
          <a:noFill/>
          <a:ln/>
        </p:spPr>
        <p:txBody>
          <a:bodyPr wrap="square" lIns="0" tIns="0" rIns="0" bIns="0" rtlCol="0" anchor="t"/>
          <a:lstStyle/>
          <a:p>
            <a:pPr indent="0" marL="0">
              <a:lnSpc>
                <a:spcPct val="125000"/>
              </a:lnSpc>
              <a:buNone/>
            </a:pPr>
            <a:r>
              <a:rPr lang="en-US" sz="1300" dirty="0">
                <a:solidFill>
                  <a:srgbClr val="3A3A3F"/>
                </a:solidFill>
                <a:latin typeface="Helvetica Neue" pitchFamily="34" charset="0"/>
                <a:ea typeface="Helvetica Neue" pitchFamily="34" charset="-122"/>
                <a:cs typeface="Helvetica Neue" pitchFamily="34" charset="-120"/>
              </a:rPr>
              <a:t>On-device Whisper transcribes the mic and the call, speaker-tagged, in the browser.</a:t>
            </a:r>
            <a:endParaRPr lang="en-US" sz="1300" dirty="0"/>
          </a:p>
        </p:txBody>
      </p:sp>
      <p:sp>
        <p:nvSpPr>
          <p:cNvPr id="8" name="Text 6"/>
          <p:cNvSpPr/>
          <p:nvPr/>
        </p:nvSpPr>
        <p:spPr>
          <a:xfrm>
            <a:off x="4475378" y="2468880"/>
            <a:ext cx="3240938" cy="365760"/>
          </a:xfrm>
          <a:prstGeom prst="rect">
            <a:avLst/>
          </a:prstGeom>
          <a:noFill/>
          <a:ln/>
        </p:spPr>
        <p:txBody>
          <a:bodyPr wrap="none" lIns="0" tIns="0" rIns="0" bIns="0" rtlCol="0" anchor="ctr" vert="horz">
            <a:normAutofit/>
          </a:bodyPr>
          <a:lstStyle/>
          <a:p>
            <a:pPr algn="l" indent="0" marL="0">
              <a:buNone/>
            </a:pPr>
            <a:r>
              <a:rPr lang="en-US" sz="1300" b="1" dirty="0">
                <a:solidFill>
                  <a:srgbClr val="0A84FF"/>
                </a:solidFill>
                <a:latin typeface="Menlo" pitchFamily="34" charset="0"/>
                <a:ea typeface="Menlo" pitchFamily="34" charset="-122"/>
                <a:cs typeface="Menlo" pitchFamily="34" charset="-120"/>
              </a:rPr>
              <a:t>FILL</a:t>
            </a:r>
            <a:endParaRPr lang="en-US" sz="1300" dirty="0"/>
          </a:p>
        </p:txBody>
      </p:sp>
      <p:sp>
        <p:nvSpPr>
          <p:cNvPr id="9" name="Text 7"/>
          <p:cNvSpPr/>
          <p:nvPr/>
        </p:nvSpPr>
        <p:spPr>
          <a:xfrm>
            <a:off x="4475378" y="2880360"/>
            <a:ext cx="3058058" cy="2377440"/>
          </a:xfrm>
          <a:prstGeom prst="rect">
            <a:avLst/>
          </a:prstGeom>
          <a:noFill/>
          <a:ln/>
        </p:spPr>
        <p:txBody>
          <a:bodyPr wrap="square" lIns="0" tIns="0" rIns="0" bIns="0" rtlCol="0" anchor="t"/>
          <a:lstStyle/>
          <a:p>
            <a:pPr indent="0" marL="0">
              <a:lnSpc>
                <a:spcPct val="125000"/>
              </a:lnSpc>
              <a:buNone/>
            </a:pPr>
            <a:r>
              <a:rPr lang="en-US" sz="1300" dirty="0">
                <a:solidFill>
                  <a:srgbClr val="3A3A3F"/>
                </a:solidFill>
                <a:latin typeface="Helvetica Neue" pitchFamily="34" charset="0"/>
                <a:ea typeface="Helvetica Neue" pitchFamily="34" charset="-122"/>
                <a:cs typeface="Helvetica Neue" pitchFamily="34" charset="-120"/>
              </a:rPr>
              <a:t>A speaker-aware parser maps the transcript onto the ticket fields as the agent speaks.</a:t>
            </a:r>
            <a:endParaRPr lang="en-US" sz="1300" dirty="0"/>
          </a:p>
        </p:txBody>
      </p:sp>
      <p:sp>
        <p:nvSpPr>
          <p:cNvPr id="10" name="Text 8"/>
          <p:cNvSpPr/>
          <p:nvPr/>
        </p:nvSpPr>
        <p:spPr>
          <a:xfrm>
            <a:off x="8173517" y="2468880"/>
            <a:ext cx="3240938" cy="365760"/>
          </a:xfrm>
          <a:prstGeom prst="rect">
            <a:avLst/>
          </a:prstGeom>
          <a:noFill/>
          <a:ln/>
        </p:spPr>
        <p:txBody>
          <a:bodyPr wrap="none" lIns="0" tIns="0" rIns="0" bIns="0" rtlCol="0" anchor="ctr" vert="horz">
            <a:normAutofit/>
          </a:bodyPr>
          <a:lstStyle/>
          <a:p>
            <a:pPr algn="l" indent="0" marL="0">
              <a:buNone/>
            </a:pPr>
            <a:r>
              <a:rPr lang="en-US" sz="1300" b="1" dirty="0">
                <a:solidFill>
                  <a:srgbClr val="0A84FF"/>
                </a:solidFill>
                <a:latin typeface="Menlo" pitchFamily="34" charset="0"/>
                <a:ea typeface="Menlo" pitchFamily="34" charset="-122"/>
                <a:cs typeface="Menlo" pitchFamily="34" charset="-120"/>
              </a:rPr>
              <a:t>SHIP</a:t>
            </a:r>
            <a:endParaRPr lang="en-US" sz="1300" dirty="0"/>
          </a:p>
        </p:txBody>
      </p:sp>
      <p:sp>
        <p:nvSpPr>
          <p:cNvPr id="11" name="Text 9"/>
          <p:cNvSpPr/>
          <p:nvPr/>
        </p:nvSpPr>
        <p:spPr>
          <a:xfrm>
            <a:off x="8173517" y="2880360"/>
            <a:ext cx="3058058" cy="2377440"/>
          </a:xfrm>
          <a:prstGeom prst="rect">
            <a:avLst/>
          </a:prstGeom>
          <a:noFill/>
          <a:ln/>
        </p:spPr>
        <p:txBody>
          <a:bodyPr wrap="square" lIns="0" tIns="0" rIns="0" bIns="0" rtlCol="0" anchor="t"/>
          <a:lstStyle/>
          <a:p>
            <a:pPr indent="0" marL="0">
              <a:lnSpc>
                <a:spcPct val="125000"/>
              </a:lnSpc>
              <a:buNone/>
            </a:pPr>
            <a:r>
              <a:rPr lang="en-US" sz="1300" dirty="0">
                <a:solidFill>
                  <a:srgbClr val="3A3A3F"/>
                </a:solidFill>
                <a:latin typeface="Helvetica Neue" pitchFamily="34" charset="0"/>
                <a:ea typeface="Helvetica Neue" pitchFamily="34" charset="-122"/>
                <a:cs typeface="Helvetica Neue" pitchFamily="34" charset="-120"/>
              </a:rPr>
              <a:t>One button turns the form into a Salesforce-ready note and pushes it back to the case.</a:t>
            </a:r>
            <a:endParaRPr lang="en-US" sz="1300" dirty="0"/>
          </a:p>
        </p:txBody>
      </p:sp>
      <p:sp>
        <p:nvSpPr>
          <p:cNvPr id="12" name="Text 10"/>
          <p:cNvSpPr/>
          <p:nvPr/>
        </p:nvSpPr>
        <p:spPr>
          <a:xfrm>
            <a:off x="777240" y="6144768"/>
            <a:ext cx="10637215"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Three engines, one pipeline — hear, fill, ship.</a:t>
            </a:r>
            <a:endParaRPr lang="en-US" sz="1000" dirty="0"/>
          </a:p>
        </p:txBody>
      </p:sp>
      <p:sp>
        <p:nvSpPr>
          <p:cNvPr id="13" name="Text 11"/>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SYSTEM</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One pipeline, three engines, all in the browser.</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Shape 4"/>
          <p:cNvSpPr/>
          <p:nvPr/>
        </p:nvSpPr>
        <p:spPr>
          <a:xfrm>
            <a:off x="777240" y="2743200"/>
            <a:ext cx="1481328" cy="1371600"/>
          </a:xfrm>
          <a:prstGeom prst="roundRect">
            <a:avLst>
              <a:gd name="adj" fmla="val 5333"/>
            </a:avLst>
          </a:prstGeom>
          <a:solidFill>
            <a:srgbClr val="F7F7F5"/>
          </a:solidFill>
          <a:ln w="9525">
            <a:solidFill>
              <a:srgbClr val="D9D9D6"/>
            </a:solidFill>
            <a:prstDash val="solid"/>
          </a:ln>
        </p:spPr>
      </p:sp>
      <p:sp>
        <p:nvSpPr>
          <p:cNvPr id="7" name="Text 5"/>
          <p:cNvSpPr/>
          <p:nvPr/>
        </p:nvSpPr>
        <p:spPr>
          <a:xfrm>
            <a:off x="777240" y="2907792"/>
            <a:ext cx="1481328" cy="457200"/>
          </a:xfrm>
          <a:prstGeom prst="rect">
            <a:avLst/>
          </a:prstGeom>
          <a:noFill/>
          <a:ln/>
        </p:spPr>
        <p:txBody>
          <a:bodyPr wrap="square" lIns="0" tIns="0" rIns="0" bIns="0" rtlCol="0" anchor="ctr"/>
          <a:lstStyle/>
          <a:p>
            <a:pPr algn="ctr" indent="0" marL="0">
              <a:buNone/>
            </a:pPr>
            <a:r>
              <a:rPr lang="en-US" sz="1200" b="1" dirty="0">
                <a:solidFill>
                  <a:srgbClr val="111114"/>
                </a:solidFill>
                <a:latin typeface="Helvetica Neue" pitchFamily="34" charset="0"/>
                <a:ea typeface="Helvetica Neue" pitchFamily="34" charset="-122"/>
                <a:cs typeface="Helvetica Neue" pitchFamily="34" charset="-120"/>
              </a:rPr>
              <a:t>Mic + Tab audio</a:t>
            </a:r>
            <a:endParaRPr lang="en-US" sz="1200" dirty="0"/>
          </a:p>
        </p:txBody>
      </p:sp>
      <p:sp>
        <p:nvSpPr>
          <p:cNvPr id="8" name="Text 6"/>
          <p:cNvSpPr/>
          <p:nvPr/>
        </p:nvSpPr>
        <p:spPr>
          <a:xfrm>
            <a:off x="777240" y="3401568"/>
            <a:ext cx="1481328" cy="548640"/>
          </a:xfrm>
          <a:prstGeom prst="rect">
            <a:avLst/>
          </a:prstGeom>
          <a:noFill/>
          <a:ln/>
        </p:spPr>
        <p:txBody>
          <a:bodyPr wrap="square" lIns="0" tIns="0" rIns="0" bIns="0" rtlCol="0" anchor="t"/>
          <a:lstStyle/>
          <a:p>
            <a:pPr algn="ctr" indent="0" marL="0">
              <a:lnSpc>
                <a:spcPct val="110000"/>
              </a:lnSpc>
              <a:buNone/>
            </a:pPr>
            <a:r>
              <a:rPr lang="en-US" sz="850" dirty="0">
                <a:solidFill>
                  <a:srgbClr val="7A7A80"/>
                </a:solidFill>
                <a:latin typeface="Menlo" pitchFamily="34" charset="0"/>
                <a:ea typeface="Menlo" pitchFamily="34" charset="-122"/>
                <a:cs typeface="Menlo" pitchFamily="34" charset="-120"/>
              </a:rPr>
              <a:t>getUserMedia</a:t>
            </a:r>
            <a:endParaRPr lang="en-US" sz="850" dirty="0"/>
          </a:p>
        </p:txBody>
      </p:sp>
      <p:sp>
        <p:nvSpPr>
          <p:cNvPr id="9" name="Text 7"/>
          <p:cNvSpPr/>
          <p:nvPr/>
        </p:nvSpPr>
        <p:spPr>
          <a:xfrm>
            <a:off x="2258568" y="2743200"/>
            <a:ext cx="164592" cy="1371600"/>
          </a:xfrm>
          <a:prstGeom prst="rect">
            <a:avLst/>
          </a:prstGeom>
          <a:noFill/>
          <a:ln/>
        </p:spPr>
        <p:txBody>
          <a:bodyPr wrap="square" lIns="0" tIns="0" rIns="0" bIns="0" rtlCol="0" anchor="ctr"/>
          <a:lstStyle/>
          <a:p>
            <a:pPr algn="ctr" indent="0" marL="0">
              <a:buNone/>
            </a:pPr>
            <a:r>
              <a:rPr lang="en-US" sz="1600" b="1" dirty="0">
                <a:solidFill>
                  <a:srgbClr val="7A7A80"/>
                </a:solidFill>
                <a:latin typeface="Helvetica Neue" pitchFamily="34" charset="0"/>
                <a:ea typeface="Helvetica Neue" pitchFamily="34" charset="-122"/>
                <a:cs typeface="Helvetica Neue" pitchFamily="34" charset="-120"/>
              </a:rPr>
              <a:t>→</a:t>
            </a:r>
            <a:endParaRPr lang="en-US" sz="1600" dirty="0"/>
          </a:p>
        </p:txBody>
      </p:sp>
      <p:sp>
        <p:nvSpPr>
          <p:cNvPr id="10" name="Shape 8"/>
          <p:cNvSpPr/>
          <p:nvPr/>
        </p:nvSpPr>
        <p:spPr>
          <a:xfrm>
            <a:off x="2423160" y="2743200"/>
            <a:ext cx="1481328" cy="1371600"/>
          </a:xfrm>
          <a:prstGeom prst="roundRect">
            <a:avLst>
              <a:gd name="adj" fmla="val 5333"/>
            </a:avLst>
          </a:prstGeom>
          <a:solidFill>
            <a:srgbClr val="F7F7F5"/>
          </a:solidFill>
          <a:ln w="9525">
            <a:solidFill>
              <a:srgbClr val="D9D9D6"/>
            </a:solidFill>
            <a:prstDash val="solid"/>
          </a:ln>
        </p:spPr>
      </p:sp>
      <p:sp>
        <p:nvSpPr>
          <p:cNvPr id="11" name="Text 9"/>
          <p:cNvSpPr/>
          <p:nvPr/>
        </p:nvSpPr>
        <p:spPr>
          <a:xfrm>
            <a:off x="2423160" y="2907792"/>
            <a:ext cx="1481328" cy="457200"/>
          </a:xfrm>
          <a:prstGeom prst="rect">
            <a:avLst/>
          </a:prstGeom>
          <a:noFill/>
          <a:ln/>
        </p:spPr>
        <p:txBody>
          <a:bodyPr wrap="square" lIns="0" tIns="0" rIns="0" bIns="0" rtlCol="0" anchor="ctr"/>
          <a:lstStyle/>
          <a:p>
            <a:pPr algn="ctr" indent="0" marL="0">
              <a:buNone/>
            </a:pPr>
            <a:r>
              <a:rPr lang="en-US" sz="1200" b="1" dirty="0">
                <a:solidFill>
                  <a:srgbClr val="111114"/>
                </a:solidFill>
                <a:latin typeface="Helvetica Neue" pitchFamily="34" charset="0"/>
                <a:ea typeface="Helvetica Neue" pitchFamily="34" charset="-122"/>
                <a:cs typeface="Helvetica Neue" pitchFamily="34" charset="-120"/>
              </a:rPr>
              <a:t>Whisper (local)</a:t>
            </a:r>
            <a:endParaRPr lang="en-US" sz="1200" dirty="0"/>
          </a:p>
        </p:txBody>
      </p:sp>
      <p:sp>
        <p:nvSpPr>
          <p:cNvPr id="12" name="Text 10"/>
          <p:cNvSpPr/>
          <p:nvPr/>
        </p:nvSpPr>
        <p:spPr>
          <a:xfrm>
            <a:off x="2423160" y="3401568"/>
            <a:ext cx="1481328" cy="548640"/>
          </a:xfrm>
          <a:prstGeom prst="rect">
            <a:avLst/>
          </a:prstGeom>
          <a:noFill/>
          <a:ln/>
        </p:spPr>
        <p:txBody>
          <a:bodyPr wrap="square" lIns="0" tIns="0" rIns="0" bIns="0" rtlCol="0" anchor="t"/>
          <a:lstStyle/>
          <a:p>
            <a:pPr algn="ctr" indent="0" marL="0">
              <a:lnSpc>
                <a:spcPct val="110000"/>
              </a:lnSpc>
              <a:buNone/>
            </a:pPr>
            <a:r>
              <a:rPr lang="en-US" sz="850" dirty="0">
                <a:solidFill>
                  <a:srgbClr val="7A7A80"/>
                </a:solidFill>
                <a:latin typeface="Menlo" pitchFamily="34" charset="0"/>
                <a:ea typeface="Menlo" pitchFamily="34" charset="-122"/>
                <a:cs typeface="Menlo" pitchFamily="34" charset="-120"/>
              </a:rPr>
              <a:t>transformers.js · WASM</a:t>
            </a:r>
            <a:endParaRPr lang="en-US" sz="850" dirty="0"/>
          </a:p>
        </p:txBody>
      </p:sp>
      <p:sp>
        <p:nvSpPr>
          <p:cNvPr id="13" name="Text 11"/>
          <p:cNvSpPr/>
          <p:nvPr/>
        </p:nvSpPr>
        <p:spPr>
          <a:xfrm>
            <a:off x="3904488" y="2743200"/>
            <a:ext cx="164592" cy="1371600"/>
          </a:xfrm>
          <a:prstGeom prst="rect">
            <a:avLst/>
          </a:prstGeom>
          <a:noFill/>
          <a:ln/>
        </p:spPr>
        <p:txBody>
          <a:bodyPr wrap="square" lIns="0" tIns="0" rIns="0" bIns="0" rtlCol="0" anchor="ctr"/>
          <a:lstStyle/>
          <a:p>
            <a:pPr algn="ctr" indent="0" marL="0">
              <a:buNone/>
            </a:pPr>
            <a:r>
              <a:rPr lang="en-US" sz="1600" b="1" dirty="0">
                <a:solidFill>
                  <a:srgbClr val="7A7A80"/>
                </a:solidFill>
                <a:latin typeface="Helvetica Neue" pitchFamily="34" charset="0"/>
                <a:ea typeface="Helvetica Neue" pitchFamily="34" charset="-122"/>
                <a:cs typeface="Helvetica Neue" pitchFamily="34" charset="-120"/>
              </a:rPr>
              <a:t>→</a:t>
            </a:r>
            <a:endParaRPr lang="en-US" sz="1600" dirty="0"/>
          </a:p>
        </p:txBody>
      </p:sp>
      <p:sp>
        <p:nvSpPr>
          <p:cNvPr id="14" name="Shape 12"/>
          <p:cNvSpPr/>
          <p:nvPr/>
        </p:nvSpPr>
        <p:spPr>
          <a:xfrm>
            <a:off x="4069080" y="2743200"/>
            <a:ext cx="1481328" cy="1371600"/>
          </a:xfrm>
          <a:prstGeom prst="roundRect">
            <a:avLst>
              <a:gd name="adj" fmla="val 5333"/>
            </a:avLst>
          </a:prstGeom>
          <a:solidFill>
            <a:srgbClr val="F7F7F5"/>
          </a:solidFill>
          <a:ln w="9525">
            <a:solidFill>
              <a:srgbClr val="D9D9D6"/>
            </a:solidFill>
            <a:prstDash val="solid"/>
          </a:ln>
        </p:spPr>
      </p:sp>
      <p:sp>
        <p:nvSpPr>
          <p:cNvPr id="15" name="Text 13"/>
          <p:cNvSpPr/>
          <p:nvPr/>
        </p:nvSpPr>
        <p:spPr>
          <a:xfrm>
            <a:off x="4069080" y="2907792"/>
            <a:ext cx="1481328" cy="457200"/>
          </a:xfrm>
          <a:prstGeom prst="rect">
            <a:avLst/>
          </a:prstGeom>
          <a:noFill/>
          <a:ln/>
        </p:spPr>
        <p:txBody>
          <a:bodyPr wrap="square" lIns="0" tIns="0" rIns="0" bIns="0" rtlCol="0" anchor="ctr"/>
          <a:lstStyle/>
          <a:p>
            <a:pPr algn="ctr" indent="0" marL="0">
              <a:buNone/>
            </a:pPr>
            <a:r>
              <a:rPr lang="en-US" sz="1200" b="1" dirty="0">
                <a:solidFill>
                  <a:srgbClr val="111114"/>
                </a:solidFill>
                <a:latin typeface="Helvetica Neue" pitchFamily="34" charset="0"/>
                <a:ea typeface="Helvetica Neue" pitchFamily="34" charset="-122"/>
                <a:cs typeface="Helvetica Neue" pitchFamily="34" charset="-120"/>
              </a:rPr>
              <a:t>Field extractor</a:t>
            </a:r>
            <a:endParaRPr lang="en-US" sz="1200" dirty="0"/>
          </a:p>
        </p:txBody>
      </p:sp>
      <p:sp>
        <p:nvSpPr>
          <p:cNvPr id="16" name="Text 14"/>
          <p:cNvSpPr/>
          <p:nvPr/>
        </p:nvSpPr>
        <p:spPr>
          <a:xfrm>
            <a:off x="4069080" y="3401568"/>
            <a:ext cx="1481328" cy="548640"/>
          </a:xfrm>
          <a:prstGeom prst="rect">
            <a:avLst/>
          </a:prstGeom>
          <a:noFill/>
          <a:ln/>
        </p:spPr>
        <p:txBody>
          <a:bodyPr wrap="square" lIns="0" tIns="0" rIns="0" bIns="0" rtlCol="0" anchor="t"/>
          <a:lstStyle/>
          <a:p>
            <a:pPr algn="ctr" indent="0" marL="0">
              <a:lnSpc>
                <a:spcPct val="110000"/>
              </a:lnSpc>
              <a:buNone/>
            </a:pPr>
            <a:r>
              <a:rPr lang="en-US" sz="850" dirty="0">
                <a:solidFill>
                  <a:srgbClr val="7A7A80"/>
                </a:solidFill>
                <a:latin typeface="Menlo" pitchFamily="34" charset="0"/>
                <a:ea typeface="Menlo" pitchFamily="34" charset="-122"/>
                <a:cs typeface="Menlo" pitchFamily="34" charset="-120"/>
              </a:rPr>
              <a:t>speaker-aware regex</a:t>
            </a:r>
            <a:endParaRPr lang="en-US" sz="850" dirty="0"/>
          </a:p>
        </p:txBody>
      </p:sp>
      <p:sp>
        <p:nvSpPr>
          <p:cNvPr id="17" name="Text 15"/>
          <p:cNvSpPr/>
          <p:nvPr/>
        </p:nvSpPr>
        <p:spPr>
          <a:xfrm>
            <a:off x="5550408" y="2743200"/>
            <a:ext cx="164592" cy="1371600"/>
          </a:xfrm>
          <a:prstGeom prst="rect">
            <a:avLst/>
          </a:prstGeom>
          <a:noFill/>
          <a:ln/>
        </p:spPr>
        <p:txBody>
          <a:bodyPr wrap="square" lIns="0" tIns="0" rIns="0" bIns="0" rtlCol="0" anchor="ctr"/>
          <a:lstStyle/>
          <a:p>
            <a:pPr algn="ctr" indent="0" marL="0">
              <a:buNone/>
            </a:pPr>
            <a:r>
              <a:rPr lang="en-US" sz="1600" b="1" dirty="0">
                <a:solidFill>
                  <a:srgbClr val="7A7A80"/>
                </a:solidFill>
                <a:latin typeface="Helvetica Neue" pitchFamily="34" charset="0"/>
                <a:ea typeface="Helvetica Neue" pitchFamily="34" charset="-122"/>
                <a:cs typeface="Helvetica Neue" pitchFamily="34" charset="-120"/>
              </a:rPr>
              <a:t>→</a:t>
            </a:r>
            <a:endParaRPr lang="en-US" sz="1600" dirty="0"/>
          </a:p>
        </p:txBody>
      </p:sp>
      <p:sp>
        <p:nvSpPr>
          <p:cNvPr id="18" name="Shape 16"/>
          <p:cNvSpPr/>
          <p:nvPr/>
        </p:nvSpPr>
        <p:spPr>
          <a:xfrm>
            <a:off x="5715000" y="2743200"/>
            <a:ext cx="1481328" cy="1371600"/>
          </a:xfrm>
          <a:prstGeom prst="roundRect">
            <a:avLst>
              <a:gd name="adj" fmla="val 5333"/>
            </a:avLst>
          </a:prstGeom>
          <a:solidFill>
            <a:srgbClr val="F7F7F5"/>
          </a:solidFill>
          <a:ln w="9525">
            <a:solidFill>
              <a:srgbClr val="D9D9D6"/>
            </a:solidFill>
            <a:prstDash val="solid"/>
          </a:ln>
        </p:spPr>
      </p:sp>
      <p:sp>
        <p:nvSpPr>
          <p:cNvPr id="19" name="Text 17"/>
          <p:cNvSpPr/>
          <p:nvPr/>
        </p:nvSpPr>
        <p:spPr>
          <a:xfrm>
            <a:off x="5715000" y="2907792"/>
            <a:ext cx="1481328" cy="457200"/>
          </a:xfrm>
          <a:prstGeom prst="rect">
            <a:avLst/>
          </a:prstGeom>
          <a:noFill/>
          <a:ln/>
        </p:spPr>
        <p:txBody>
          <a:bodyPr wrap="square" lIns="0" tIns="0" rIns="0" bIns="0" rtlCol="0" anchor="ctr"/>
          <a:lstStyle/>
          <a:p>
            <a:pPr algn="ctr" indent="0" marL="0">
              <a:buNone/>
            </a:pPr>
            <a:r>
              <a:rPr lang="en-US" sz="1200" b="1" dirty="0">
                <a:solidFill>
                  <a:srgbClr val="111114"/>
                </a:solidFill>
                <a:latin typeface="Helvetica Neue" pitchFamily="34" charset="0"/>
                <a:ea typeface="Helvetica Neue" pitchFamily="34" charset="-122"/>
                <a:cs typeface="Helvetica Neue" pitchFamily="34" charset="-120"/>
              </a:rPr>
              <a:t>LLM parser</a:t>
            </a:r>
            <a:endParaRPr lang="en-US" sz="1200" dirty="0"/>
          </a:p>
        </p:txBody>
      </p:sp>
      <p:sp>
        <p:nvSpPr>
          <p:cNvPr id="20" name="Text 18"/>
          <p:cNvSpPr/>
          <p:nvPr/>
        </p:nvSpPr>
        <p:spPr>
          <a:xfrm>
            <a:off x="5715000" y="3401568"/>
            <a:ext cx="1481328" cy="548640"/>
          </a:xfrm>
          <a:prstGeom prst="rect">
            <a:avLst/>
          </a:prstGeom>
          <a:noFill/>
          <a:ln/>
        </p:spPr>
        <p:txBody>
          <a:bodyPr wrap="square" lIns="0" tIns="0" rIns="0" bIns="0" rtlCol="0" anchor="t"/>
          <a:lstStyle/>
          <a:p>
            <a:pPr algn="ctr" indent="0" marL="0">
              <a:lnSpc>
                <a:spcPct val="110000"/>
              </a:lnSpc>
              <a:buNone/>
            </a:pPr>
            <a:r>
              <a:rPr lang="en-US" sz="850" dirty="0">
                <a:solidFill>
                  <a:srgbClr val="7A7A80"/>
                </a:solidFill>
                <a:latin typeface="Menlo" pitchFamily="34" charset="0"/>
                <a:ea typeface="Menlo" pitchFamily="34" charset="-122"/>
                <a:cs typeface="Menlo" pitchFamily="34" charset="-120"/>
              </a:rPr>
              <a:t>DeepSeek cloud / Qwen local</a:t>
            </a:r>
            <a:endParaRPr lang="en-US" sz="850" dirty="0"/>
          </a:p>
        </p:txBody>
      </p:sp>
      <p:sp>
        <p:nvSpPr>
          <p:cNvPr id="21" name="Text 19"/>
          <p:cNvSpPr/>
          <p:nvPr/>
        </p:nvSpPr>
        <p:spPr>
          <a:xfrm>
            <a:off x="7196328" y="2743200"/>
            <a:ext cx="164592" cy="1371600"/>
          </a:xfrm>
          <a:prstGeom prst="rect">
            <a:avLst/>
          </a:prstGeom>
          <a:noFill/>
          <a:ln/>
        </p:spPr>
        <p:txBody>
          <a:bodyPr wrap="square" lIns="0" tIns="0" rIns="0" bIns="0" rtlCol="0" anchor="ctr"/>
          <a:lstStyle/>
          <a:p>
            <a:pPr algn="ctr" indent="0" marL="0">
              <a:buNone/>
            </a:pPr>
            <a:r>
              <a:rPr lang="en-US" sz="1600" b="1" dirty="0">
                <a:solidFill>
                  <a:srgbClr val="7A7A80"/>
                </a:solidFill>
                <a:latin typeface="Helvetica Neue" pitchFamily="34" charset="0"/>
                <a:ea typeface="Helvetica Neue" pitchFamily="34" charset="-122"/>
                <a:cs typeface="Helvetica Neue" pitchFamily="34" charset="-120"/>
              </a:rPr>
              <a:t>→</a:t>
            </a:r>
            <a:endParaRPr lang="en-US" sz="1600" dirty="0"/>
          </a:p>
        </p:txBody>
      </p:sp>
      <p:sp>
        <p:nvSpPr>
          <p:cNvPr id="22" name="Shape 20"/>
          <p:cNvSpPr/>
          <p:nvPr/>
        </p:nvSpPr>
        <p:spPr>
          <a:xfrm>
            <a:off x="7360920" y="2743200"/>
            <a:ext cx="1481328" cy="1371600"/>
          </a:xfrm>
          <a:prstGeom prst="roundRect">
            <a:avLst>
              <a:gd name="adj" fmla="val 5333"/>
            </a:avLst>
          </a:prstGeom>
          <a:solidFill>
            <a:srgbClr val="F7F7F5"/>
          </a:solidFill>
          <a:ln w="9525">
            <a:solidFill>
              <a:srgbClr val="D9D9D6"/>
            </a:solidFill>
            <a:prstDash val="solid"/>
          </a:ln>
        </p:spPr>
      </p:sp>
      <p:sp>
        <p:nvSpPr>
          <p:cNvPr id="23" name="Text 21"/>
          <p:cNvSpPr/>
          <p:nvPr/>
        </p:nvSpPr>
        <p:spPr>
          <a:xfrm>
            <a:off x="7360920" y="2907792"/>
            <a:ext cx="1481328" cy="457200"/>
          </a:xfrm>
          <a:prstGeom prst="rect">
            <a:avLst/>
          </a:prstGeom>
          <a:noFill/>
          <a:ln/>
        </p:spPr>
        <p:txBody>
          <a:bodyPr wrap="square" lIns="0" tIns="0" rIns="0" bIns="0" rtlCol="0" anchor="ctr"/>
          <a:lstStyle/>
          <a:p>
            <a:pPr algn="ctr" indent="0" marL="0">
              <a:buNone/>
            </a:pPr>
            <a:r>
              <a:rPr lang="en-US" sz="1200" b="1" dirty="0">
                <a:solidFill>
                  <a:srgbClr val="111114"/>
                </a:solidFill>
                <a:latin typeface="Helvetica Neue" pitchFamily="34" charset="0"/>
                <a:ea typeface="Helvetica Neue" pitchFamily="34" charset="-122"/>
                <a:cs typeface="Helvetica Neue" pitchFamily="34" charset="-120"/>
              </a:rPr>
              <a:t>Form</a:t>
            </a:r>
            <a:endParaRPr lang="en-US" sz="1200" dirty="0"/>
          </a:p>
        </p:txBody>
      </p:sp>
      <p:sp>
        <p:nvSpPr>
          <p:cNvPr id="24" name="Text 22"/>
          <p:cNvSpPr/>
          <p:nvPr/>
        </p:nvSpPr>
        <p:spPr>
          <a:xfrm>
            <a:off x="7360920" y="3401568"/>
            <a:ext cx="1481328" cy="548640"/>
          </a:xfrm>
          <a:prstGeom prst="rect">
            <a:avLst/>
          </a:prstGeom>
          <a:noFill/>
          <a:ln/>
        </p:spPr>
        <p:txBody>
          <a:bodyPr wrap="square" lIns="0" tIns="0" rIns="0" bIns="0" rtlCol="0" anchor="t"/>
          <a:lstStyle/>
          <a:p>
            <a:pPr algn="ctr" indent="0" marL="0">
              <a:lnSpc>
                <a:spcPct val="110000"/>
              </a:lnSpc>
              <a:buNone/>
            </a:pPr>
            <a:r>
              <a:rPr lang="en-US" sz="850" dirty="0">
                <a:solidFill>
                  <a:srgbClr val="7A7A80"/>
                </a:solidFill>
                <a:latin typeface="Menlo" pitchFamily="34" charset="0"/>
                <a:ea typeface="Menlo" pitchFamily="34" charset="-122"/>
                <a:cs typeface="Menlo" pitchFamily="34" charset="-120"/>
              </a:rPr>
              <a:t>gridbox state</a:t>
            </a:r>
            <a:endParaRPr lang="en-US" sz="850" dirty="0"/>
          </a:p>
        </p:txBody>
      </p:sp>
      <p:sp>
        <p:nvSpPr>
          <p:cNvPr id="25" name="Text 23"/>
          <p:cNvSpPr/>
          <p:nvPr/>
        </p:nvSpPr>
        <p:spPr>
          <a:xfrm>
            <a:off x="8842248" y="2743200"/>
            <a:ext cx="164592" cy="1371600"/>
          </a:xfrm>
          <a:prstGeom prst="rect">
            <a:avLst/>
          </a:prstGeom>
          <a:noFill/>
          <a:ln/>
        </p:spPr>
        <p:txBody>
          <a:bodyPr wrap="square" lIns="0" tIns="0" rIns="0" bIns="0" rtlCol="0" anchor="ctr"/>
          <a:lstStyle/>
          <a:p>
            <a:pPr algn="ctr" indent="0" marL="0">
              <a:buNone/>
            </a:pPr>
            <a:r>
              <a:rPr lang="en-US" sz="1600" b="1" dirty="0">
                <a:solidFill>
                  <a:srgbClr val="7A7A80"/>
                </a:solidFill>
                <a:latin typeface="Helvetica Neue" pitchFamily="34" charset="0"/>
                <a:ea typeface="Helvetica Neue" pitchFamily="34" charset="-122"/>
                <a:cs typeface="Helvetica Neue" pitchFamily="34" charset="-120"/>
              </a:rPr>
              <a:t>→</a:t>
            </a:r>
            <a:endParaRPr lang="en-US" sz="1600" dirty="0"/>
          </a:p>
        </p:txBody>
      </p:sp>
      <p:sp>
        <p:nvSpPr>
          <p:cNvPr id="26" name="Shape 24"/>
          <p:cNvSpPr/>
          <p:nvPr/>
        </p:nvSpPr>
        <p:spPr>
          <a:xfrm>
            <a:off x="9006840" y="2743200"/>
            <a:ext cx="1481328" cy="1371600"/>
          </a:xfrm>
          <a:prstGeom prst="roundRect">
            <a:avLst>
              <a:gd name="adj" fmla="val 5333"/>
            </a:avLst>
          </a:prstGeom>
          <a:solidFill>
            <a:srgbClr val="F7F7F5"/>
          </a:solidFill>
          <a:ln w="9525">
            <a:solidFill>
              <a:srgbClr val="D9D9D6"/>
            </a:solidFill>
            <a:prstDash val="solid"/>
          </a:ln>
        </p:spPr>
      </p:sp>
      <p:sp>
        <p:nvSpPr>
          <p:cNvPr id="27" name="Text 25"/>
          <p:cNvSpPr/>
          <p:nvPr/>
        </p:nvSpPr>
        <p:spPr>
          <a:xfrm>
            <a:off x="9006840" y="2907792"/>
            <a:ext cx="1481328" cy="457200"/>
          </a:xfrm>
          <a:prstGeom prst="rect">
            <a:avLst/>
          </a:prstGeom>
          <a:noFill/>
          <a:ln/>
        </p:spPr>
        <p:txBody>
          <a:bodyPr wrap="square" lIns="0" tIns="0" rIns="0" bIns="0" rtlCol="0" anchor="ctr"/>
          <a:lstStyle/>
          <a:p>
            <a:pPr algn="ctr" indent="0" marL="0">
              <a:buNone/>
            </a:pPr>
            <a:r>
              <a:rPr lang="en-US" sz="1200" b="1" dirty="0">
                <a:solidFill>
                  <a:srgbClr val="111114"/>
                </a:solidFill>
                <a:latin typeface="Helvetica Neue" pitchFamily="34" charset="0"/>
                <a:ea typeface="Helvetica Neue" pitchFamily="34" charset="-122"/>
                <a:cs typeface="Helvetica Neue" pitchFamily="34" charset="-120"/>
              </a:rPr>
              <a:t>Salesforce</a:t>
            </a:r>
            <a:endParaRPr lang="en-US" sz="1200" dirty="0"/>
          </a:p>
        </p:txBody>
      </p:sp>
      <p:sp>
        <p:nvSpPr>
          <p:cNvPr id="28" name="Text 26"/>
          <p:cNvSpPr/>
          <p:nvPr/>
        </p:nvSpPr>
        <p:spPr>
          <a:xfrm>
            <a:off x="9006840" y="3401568"/>
            <a:ext cx="1481328" cy="548640"/>
          </a:xfrm>
          <a:prstGeom prst="rect">
            <a:avLst/>
          </a:prstGeom>
          <a:noFill/>
          <a:ln/>
        </p:spPr>
        <p:txBody>
          <a:bodyPr wrap="square" lIns="0" tIns="0" rIns="0" bIns="0" rtlCol="0" anchor="t"/>
          <a:lstStyle/>
          <a:p>
            <a:pPr algn="ctr" indent="0" marL="0">
              <a:lnSpc>
                <a:spcPct val="110000"/>
              </a:lnSpc>
              <a:buNone/>
            </a:pPr>
            <a:r>
              <a:rPr lang="en-US" sz="850" dirty="0">
                <a:solidFill>
                  <a:srgbClr val="7A7A80"/>
                </a:solidFill>
                <a:latin typeface="Menlo" pitchFamily="34" charset="0"/>
                <a:ea typeface="Menlo" pitchFamily="34" charset="-122"/>
                <a:cs typeface="Menlo" pitchFamily="34" charset="-120"/>
              </a:rPr>
              <a:t>Chrome MV3 bridge</a:t>
            </a:r>
            <a:endParaRPr lang="en-US" sz="850" dirty="0"/>
          </a:p>
        </p:txBody>
      </p:sp>
      <p:sp>
        <p:nvSpPr>
          <p:cNvPr id="29" name="Text 27"/>
          <p:cNvSpPr/>
          <p:nvPr/>
        </p:nvSpPr>
        <p:spPr>
          <a:xfrm>
            <a:off x="777240" y="4572000"/>
            <a:ext cx="10637215" cy="1463040"/>
          </a:xfrm>
          <a:prstGeom prst="rect">
            <a:avLst/>
          </a:prstGeom>
          <a:noFill/>
          <a:ln/>
        </p:spPr>
        <p:txBody>
          <a:bodyPr wrap="square" lIns="0" tIns="0" rIns="0" bIns="0" rtlCol="0" anchor="t"/>
          <a:lstStyle/>
          <a:p>
            <a:pPr indent="0" marL="0">
              <a:lnSpc>
                <a:spcPct val="125000"/>
              </a:lnSpc>
              <a:buNone/>
            </a:pPr>
            <a:r>
              <a:rPr lang="en-US" sz="1200" dirty="0">
                <a:solidFill>
                  <a:srgbClr val="3A3A3F"/>
                </a:solidFill>
                <a:latin typeface="Helvetica Neue" pitchFamily="34" charset="0"/>
                <a:ea typeface="Helvetica Neue" pitchFamily="34" charset="-122"/>
                <a:cs typeface="Helvetica Neue" pitchFamily="34" charset="-120"/>
              </a:rPr>
              <a:t>Audio is captured in the tab. Whisper runs on the device. Field extraction is shared between the live hook and the LLM worker. The form is the single source of truth, and a Tier-2 extension writes the result back to Salesforce.</a:t>
            </a:r>
            <a:endParaRPr lang="en-US" sz="1200" dirty="0"/>
          </a:p>
        </p:txBody>
      </p:sp>
      <p:sp>
        <p:nvSpPr>
          <p:cNvPr id="30" name="Text 28"/>
          <p:cNvSpPr/>
          <p:nvPr/>
        </p:nvSpPr>
        <p:spPr>
          <a:xfrm>
            <a:off x="777240" y="6144768"/>
            <a:ext cx="10637215"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No audio leaves the browser except the optional DeepSeek parse of the transcript text.</a:t>
            </a:r>
            <a:endParaRPr lang="en-US" sz="1000" dirty="0"/>
          </a:p>
        </p:txBody>
      </p:sp>
      <p:sp>
        <p:nvSpPr>
          <p:cNvPr id="31" name="Text 29"/>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THE WORKSPACE</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A flowchart of the call, not a form to fill.</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pic>
        <p:nvPicPr>
          <p:cNvPr id="6" name="Image 0" descr="/Users/susul/Dev/econote/note-master/ppt-build/assets/fit/fit_01_main_workspace.png">    </p:cNvPr>
          <p:cNvPicPr>
            <a:picLocks noChangeAspect="1"/>
          </p:cNvPicPr>
          <p:nvPr/>
        </p:nvPicPr>
        <p:blipFill>
          <a:blip r:embed="rId1"/>
          <a:stretch>
            <a:fillRect/>
          </a:stretch>
        </p:blipFill>
        <p:spPr>
          <a:xfrm>
            <a:off x="1798168" y="2377440"/>
            <a:ext cx="8595360" cy="6365939"/>
          </a:xfrm>
          <a:prstGeom prst="rect">
            <a:avLst/>
          </a:prstGeom>
        </p:spPr>
      </p:pic>
      <p:sp>
        <p:nvSpPr>
          <p:cNvPr id="7" name="Shape 4"/>
          <p:cNvSpPr/>
          <p:nvPr/>
        </p:nvSpPr>
        <p:spPr>
          <a:xfrm>
            <a:off x="1798168" y="2377440"/>
            <a:ext cx="8595360" cy="6365939"/>
          </a:xfrm>
          <a:prstGeom prst="rect">
            <a:avLst/>
          </a:prstGeom>
          <a:ln w="6350">
            <a:solidFill>
              <a:srgbClr val="D9D9D6"/>
            </a:solidFill>
            <a:prstDash val="solid"/>
          </a:ln>
        </p:spPr>
      </p:sp>
      <p:sp>
        <p:nvSpPr>
          <p:cNvPr id="8" name="Text 5"/>
          <p:cNvSpPr/>
          <p:nvPr/>
        </p:nvSpPr>
        <p:spPr>
          <a:xfrm>
            <a:off x="777240" y="6144768"/>
            <a:ext cx="10637215"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Gridbox canvas — every node is a ticket field; the bottom call bar drives capture.</a:t>
            </a:r>
            <a:endParaRPr lang="en-US" sz="1000" dirty="0"/>
          </a:p>
        </p:txBody>
      </p:sp>
      <p:sp>
        <p:nvSpPr>
          <p:cNvPr id="9" name="Text 6"/>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MAJOR FEATURE · 01</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On-device Whisper transcription.</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5486400" cy="1463040"/>
          </a:xfrm>
          <a:prstGeom prst="rect">
            <a:avLst/>
          </a:prstGeom>
          <a:noFill/>
          <a:ln/>
        </p:spPr>
        <p:txBody>
          <a:bodyPr wrap="square" lIns="0" tIns="0" rIns="0" bIns="0" rtlCol="0" anchor="t"/>
          <a:lstStyle/>
          <a:p>
            <a:pPr indent="0" marL="0">
              <a:lnSpc>
                <a:spcPct val="125000"/>
              </a:lnSpc>
              <a:buNone/>
            </a:pPr>
            <a:r>
              <a:rPr lang="en-US" sz="1350" dirty="0">
                <a:solidFill>
                  <a:srgbClr val="3A3A3F"/>
                </a:solidFill>
                <a:latin typeface="Helvetica Neue" pitchFamily="34" charset="0"/>
                <a:ea typeface="Helvetica Neue" pitchFamily="34" charset="-122"/>
                <a:cs typeface="Helvetica Neue" pitchFamily="34" charset="-120"/>
              </a:rPr>
              <a:t>Whisper runs entirely in the browser through transformers.js + ONNX Runtime Web (WASM). Models cache after the first download; nothing is sent to a server.</a:t>
            </a:r>
            <a:endParaRPr lang="en-US" sz="1350" dirty="0"/>
          </a:p>
        </p:txBody>
      </p:sp>
      <p:sp>
        <p:nvSpPr>
          <p:cNvPr id="7" name="Text 5"/>
          <p:cNvSpPr/>
          <p:nvPr/>
        </p:nvSpPr>
        <p:spPr>
          <a:xfrm>
            <a:off x="777240" y="3566160"/>
            <a:ext cx="548640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Mic channel = agent speech (Web Speech API).</a:t>
            </a:r>
            <a:endParaRPr lang="en-US" sz="1250" dirty="0"/>
          </a:p>
        </p:txBody>
      </p:sp>
      <p:sp>
        <p:nvSpPr>
          <p:cNvPr id="8" name="Text 6"/>
          <p:cNvSpPr/>
          <p:nvPr/>
        </p:nvSpPr>
        <p:spPr>
          <a:xfrm>
            <a:off x="777240" y="3858768"/>
            <a:ext cx="548640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Tab-audio channel = customer (CCP) — local Whisper.</a:t>
            </a:r>
            <a:endParaRPr lang="en-US" sz="1250" dirty="0"/>
          </a:p>
        </p:txBody>
      </p:sp>
      <p:sp>
        <p:nvSpPr>
          <p:cNvPr id="9" name="Text 7"/>
          <p:cNvSpPr/>
          <p:nvPr/>
        </p:nvSpPr>
        <p:spPr>
          <a:xfrm>
            <a:off x="777240" y="4151376"/>
            <a:ext cx="548640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base / tiny · en + fr multilingual variants.</a:t>
            </a:r>
            <a:endParaRPr lang="en-US" sz="1250" dirty="0"/>
          </a:p>
        </p:txBody>
      </p:sp>
      <p:sp>
        <p:nvSpPr>
          <p:cNvPr id="10" name="Text 8"/>
          <p:cNvSpPr/>
          <p:nvPr/>
        </p:nvSpPr>
        <p:spPr>
          <a:xfrm>
            <a:off x="777240" y="4443984"/>
            <a:ext cx="548640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Hallucination &amp; repetition loops filtered live.</a:t>
            </a:r>
            <a:endParaRPr lang="en-US" sz="1250" dirty="0"/>
          </a:p>
        </p:txBody>
      </p:sp>
      <p:sp>
        <p:nvSpPr>
          <p:cNvPr id="11" name="Text 9"/>
          <p:cNvSpPr/>
          <p:nvPr/>
        </p:nvSpPr>
        <p:spPr>
          <a:xfrm>
            <a:off x="777240" y="4736592"/>
            <a:ext cx="548640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Live input meters + per-segment status.</a:t>
            </a:r>
            <a:endParaRPr lang="en-US" sz="1250" dirty="0"/>
          </a:p>
        </p:txBody>
      </p:sp>
      <p:pic>
        <p:nvPicPr>
          <p:cNvPr id="12" name="Image 0" descr="/Users/susul/Dev/econote/note-master/ppt-build/assets/fit/fit_06_settings_or_engine_panel.png">    </p:cNvPr>
          <p:cNvPicPr>
            <a:picLocks noChangeAspect="1"/>
          </p:cNvPicPr>
          <p:nvPr/>
        </p:nvPicPr>
        <p:blipFill>
          <a:blip r:embed="rId1"/>
          <a:stretch>
            <a:fillRect/>
          </a:stretch>
        </p:blipFill>
        <p:spPr>
          <a:xfrm>
            <a:off x="6355080" y="2468880"/>
            <a:ext cx="5212080" cy="3860197"/>
          </a:xfrm>
          <a:prstGeom prst="rect">
            <a:avLst/>
          </a:prstGeom>
        </p:spPr>
      </p:pic>
      <p:sp>
        <p:nvSpPr>
          <p:cNvPr id="13" name="Shape 10"/>
          <p:cNvSpPr/>
          <p:nvPr/>
        </p:nvSpPr>
        <p:spPr>
          <a:xfrm>
            <a:off x="6355080" y="2468880"/>
            <a:ext cx="5212080" cy="3860197"/>
          </a:xfrm>
          <a:prstGeom prst="rect">
            <a:avLst/>
          </a:prstGeom>
          <a:ln w="6350">
            <a:solidFill>
              <a:srgbClr val="D9D9D6"/>
            </a:solidFill>
            <a:prstDash val="solid"/>
          </a:ln>
        </p:spPr>
      </p:sp>
      <p:sp>
        <p:nvSpPr>
          <p:cNvPr id="14" name="Text 11"/>
          <p:cNvSpPr/>
          <p:nvPr/>
        </p:nvSpPr>
        <p:spPr>
          <a:xfrm>
            <a:off x="6355080" y="6144768"/>
            <a:ext cx="5212080"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Engine settings panel — Whisper model, dtype, downloads, RAM badge.</a:t>
            </a:r>
            <a:endParaRPr lang="en-US" sz="1000" dirty="0"/>
          </a:p>
        </p:txBody>
      </p:sp>
      <p:sp>
        <p:nvSpPr>
          <p:cNvPr id="15" name="Text 12"/>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MAJOR FEATURE · 02</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Auto note filling that never overwrites a human.</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10637215" cy="1463040"/>
          </a:xfrm>
          <a:prstGeom prst="rect">
            <a:avLst/>
          </a:prstGeom>
          <a:noFill/>
          <a:ln/>
        </p:spPr>
        <p:txBody>
          <a:bodyPr wrap="square" lIns="0" tIns="0" rIns="0" bIns="0" rtlCol="0" anchor="t"/>
          <a:lstStyle/>
          <a:p>
            <a:pPr indent="0" marL="0">
              <a:lnSpc>
                <a:spcPct val="125000"/>
              </a:lnSpc>
              <a:buNone/>
            </a:pPr>
            <a:r>
              <a:rPr lang="en-US" sz="1350" dirty="0">
                <a:solidFill>
                  <a:srgbClr val="3A3A3F"/>
                </a:solidFill>
                <a:latin typeface="Helvetica Neue" pitchFamily="34" charset="0"/>
                <a:ea typeface="Helvetica Neue" pitchFamily="34" charset="-122"/>
                <a:cs typeface="Helvetica Neue" pitchFamily="34" charset="-120"/>
              </a:rPr>
              <a:t>A speaker-aware parser maps the transcript onto ticket fields. Customer first-person phrasings only parse from the customer's speech; agent dictation (“customer's number is…”) only from the agent's. Model names canonicalize against the combobox list.</a:t>
            </a:r>
            <a:endParaRPr lang="en-US" sz="1350" dirty="0"/>
          </a:p>
        </p:txBody>
      </p:sp>
      <p:sp>
        <p:nvSpPr>
          <p:cNvPr id="7" name="Shape 5"/>
          <p:cNvSpPr/>
          <p:nvPr/>
        </p:nvSpPr>
        <p:spPr>
          <a:xfrm>
            <a:off x="777240" y="3657600"/>
            <a:ext cx="10637215" cy="566928"/>
          </a:xfrm>
          <a:prstGeom prst="roundRect">
            <a:avLst>
              <a:gd name="adj" fmla="val 8065"/>
            </a:avLst>
          </a:prstGeom>
          <a:solidFill>
            <a:srgbClr val="F7F7F5"/>
          </a:solidFill>
          <a:ln w="6350">
            <a:solidFill>
              <a:srgbClr val="D9D9D6"/>
            </a:solidFill>
            <a:prstDash val="solid"/>
          </a:ln>
        </p:spPr>
      </p:sp>
      <p:sp>
        <p:nvSpPr>
          <p:cNvPr id="8" name="Text 6"/>
          <p:cNvSpPr/>
          <p:nvPr/>
        </p:nvSpPr>
        <p:spPr>
          <a:xfrm>
            <a:off x="1005840" y="3657600"/>
            <a:ext cx="2194560" cy="566928"/>
          </a:xfrm>
          <a:prstGeom prst="rect">
            <a:avLst/>
          </a:prstGeom>
          <a:noFill/>
          <a:ln/>
        </p:spPr>
        <p:txBody>
          <a:bodyPr wrap="none" lIns="0" tIns="0" rIns="0" bIns="0" rtlCol="0" anchor="ctr" vert="horz">
            <a:normAutofit/>
          </a:bodyPr>
          <a:lstStyle/>
          <a:p>
            <a:pPr algn="l" indent="0" marL="0">
              <a:buNone/>
            </a:pPr>
            <a:r>
              <a:rPr lang="en-US" sz="1300" b="1" dirty="0">
                <a:solidFill>
                  <a:srgbClr val="7A7A80"/>
                </a:solidFill>
                <a:latin typeface="Menlo" pitchFamily="34" charset="0"/>
                <a:ea typeface="Menlo" pitchFamily="34" charset="-122"/>
                <a:cs typeface="Menlo" pitchFamily="34" charset="-120"/>
              </a:rPr>
              <a:t>regex</a:t>
            </a:r>
            <a:endParaRPr lang="en-US" sz="1300" dirty="0"/>
          </a:p>
        </p:txBody>
      </p:sp>
      <p:sp>
        <p:nvSpPr>
          <p:cNvPr id="9" name="Text 7"/>
          <p:cNvSpPr/>
          <p:nvPr/>
        </p:nvSpPr>
        <p:spPr>
          <a:xfrm>
            <a:off x="3337560" y="3657600"/>
            <a:ext cx="7894015" cy="566928"/>
          </a:xfrm>
          <a:prstGeom prst="rect">
            <a:avLst/>
          </a:prstGeom>
          <a:noFill/>
          <a:ln/>
        </p:spPr>
        <p:txBody>
          <a:bodyPr wrap="square" lIns="0" tIns="0" rIns="0" bIns="0" rtlCol="0" anchor="ctr"/>
          <a:lstStyle/>
          <a:p>
            <a:pPr indent="0" marL="0">
              <a:buNone/>
            </a:pPr>
            <a:r>
              <a:rPr lang="en-US" sz="1200" dirty="0">
                <a:solidFill>
                  <a:srgbClr val="3A3A3F"/>
                </a:solidFill>
                <a:latin typeface="Helvetica Neue" pitchFamily="34" charset="0"/>
                <a:ea typeface="Helvetica Neue" pitchFamily="34" charset="-122"/>
                <a:cs typeface="Helvetica Neue" pitchFamily="34" charset="-120"/>
              </a:rPr>
              <a:t>fills empty fields only</a:t>
            </a:r>
            <a:endParaRPr lang="en-US" sz="1200" dirty="0"/>
          </a:p>
        </p:txBody>
      </p:sp>
      <p:sp>
        <p:nvSpPr>
          <p:cNvPr id="10" name="Shape 8"/>
          <p:cNvSpPr/>
          <p:nvPr/>
        </p:nvSpPr>
        <p:spPr>
          <a:xfrm>
            <a:off x="777240" y="4370832"/>
            <a:ext cx="10637215" cy="566928"/>
          </a:xfrm>
          <a:prstGeom prst="roundRect">
            <a:avLst>
              <a:gd name="adj" fmla="val 8065"/>
            </a:avLst>
          </a:prstGeom>
          <a:solidFill>
            <a:srgbClr val="F7F7F5"/>
          </a:solidFill>
          <a:ln w="6350">
            <a:solidFill>
              <a:srgbClr val="D9D9D6"/>
            </a:solidFill>
            <a:prstDash val="solid"/>
          </a:ln>
        </p:spPr>
      </p:sp>
      <p:sp>
        <p:nvSpPr>
          <p:cNvPr id="11" name="Text 9"/>
          <p:cNvSpPr/>
          <p:nvPr/>
        </p:nvSpPr>
        <p:spPr>
          <a:xfrm>
            <a:off x="1005840" y="4370832"/>
            <a:ext cx="2194560" cy="566928"/>
          </a:xfrm>
          <a:prstGeom prst="rect">
            <a:avLst/>
          </a:prstGeom>
          <a:noFill/>
          <a:ln/>
        </p:spPr>
        <p:txBody>
          <a:bodyPr wrap="none" lIns="0" tIns="0" rIns="0" bIns="0" rtlCol="0" anchor="ctr" vert="horz">
            <a:normAutofit/>
          </a:bodyPr>
          <a:lstStyle/>
          <a:p>
            <a:pPr algn="l" indent="0" marL="0">
              <a:buNone/>
            </a:pPr>
            <a:r>
              <a:rPr lang="en-US" sz="1300" b="1" dirty="0">
                <a:solidFill>
                  <a:srgbClr val="3A3A3F"/>
                </a:solidFill>
                <a:latin typeface="Menlo" pitchFamily="34" charset="0"/>
                <a:ea typeface="Menlo" pitchFamily="34" charset="-122"/>
                <a:cs typeface="Menlo" pitchFamily="34" charset="-120"/>
              </a:rPr>
              <a:t>regex-grow</a:t>
            </a:r>
            <a:endParaRPr lang="en-US" sz="1300" dirty="0"/>
          </a:p>
        </p:txBody>
      </p:sp>
      <p:sp>
        <p:nvSpPr>
          <p:cNvPr id="12" name="Text 10"/>
          <p:cNvSpPr/>
          <p:nvPr/>
        </p:nvSpPr>
        <p:spPr>
          <a:xfrm>
            <a:off x="3337560" y="4370832"/>
            <a:ext cx="7894015" cy="566928"/>
          </a:xfrm>
          <a:prstGeom prst="rect">
            <a:avLst/>
          </a:prstGeom>
          <a:noFill/>
          <a:ln/>
        </p:spPr>
        <p:txBody>
          <a:bodyPr wrap="square" lIns="0" tIns="0" rIns="0" bIns="0" rtlCol="0" anchor="ctr"/>
          <a:lstStyle/>
          <a:p>
            <a:pPr indent="0" marL="0">
              <a:buNone/>
            </a:pPr>
            <a:r>
              <a:rPr lang="en-US" sz="1200" dirty="0">
                <a:solidFill>
                  <a:srgbClr val="3A3A3F"/>
                </a:solidFill>
                <a:latin typeface="Helvetica Neue" pitchFamily="34" charset="0"/>
                <a:ea typeface="Helvetica Neue" pitchFamily="34" charset="-122"/>
                <a:cs typeface="Helvetica Neue" pitchFamily="34" charset="-120"/>
              </a:rPr>
              <a:t>replaces regex / paraphrase</a:t>
            </a:r>
            <a:endParaRPr lang="en-US" sz="1200" dirty="0"/>
          </a:p>
        </p:txBody>
      </p:sp>
      <p:sp>
        <p:nvSpPr>
          <p:cNvPr id="13" name="Shape 11"/>
          <p:cNvSpPr/>
          <p:nvPr/>
        </p:nvSpPr>
        <p:spPr>
          <a:xfrm>
            <a:off x="777240" y="5084064"/>
            <a:ext cx="10637215" cy="566928"/>
          </a:xfrm>
          <a:prstGeom prst="roundRect">
            <a:avLst>
              <a:gd name="adj" fmla="val 8065"/>
            </a:avLst>
          </a:prstGeom>
          <a:solidFill>
            <a:srgbClr val="F7F7F5"/>
          </a:solidFill>
          <a:ln w="6350">
            <a:solidFill>
              <a:srgbClr val="D9D9D6"/>
            </a:solidFill>
            <a:prstDash val="solid"/>
          </a:ln>
        </p:spPr>
      </p:sp>
      <p:sp>
        <p:nvSpPr>
          <p:cNvPr id="14" name="Text 12"/>
          <p:cNvSpPr/>
          <p:nvPr/>
        </p:nvSpPr>
        <p:spPr>
          <a:xfrm>
            <a:off x="1005840" y="5084064"/>
            <a:ext cx="2194560" cy="566928"/>
          </a:xfrm>
          <a:prstGeom prst="rect">
            <a:avLst/>
          </a:prstGeom>
          <a:noFill/>
          <a:ln/>
        </p:spPr>
        <p:txBody>
          <a:bodyPr wrap="none" lIns="0" tIns="0" rIns="0" bIns="0" rtlCol="0" anchor="ctr" vert="horz">
            <a:normAutofit/>
          </a:bodyPr>
          <a:lstStyle/>
          <a:p>
            <a:pPr algn="l" indent="0" marL="0">
              <a:buNone/>
            </a:pPr>
            <a:r>
              <a:rPr lang="en-US" sz="1300" b="1" dirty="0">
                <a:solidFill>
                  <a:srgbClr val="3A3A3F"/>
                </a:solidFill>
                <a:latin typeface="Menlo" pitchFamily="34" charset="0"/>
                <a:ea typeface="Menlo" pitchFamily="34" charset="-122"/>
                <a:cs typeface="Menlo" pitchFamily="34" charset="-120"/>
              </a:rPr>
              <a:t>paraphrase</a:t>
            </a:r>
            <a:endParaRPr lang="en-US" sz="1300" dirty="0"/>
          </a:p>
        </p:txBody>
      </p:sp>
      <p:sp>
        <p:nvSpPr>
          <p:cNvPr id="15" name="Text 13"/>
          <p:cNvSpPr/>
          <p:nvPr/>
        </p:nvSpPr>
        <p:spPr>
          <a:xfrm>
            <a:off x="3337560" y="5084064"/>
            <a:ext cx="7894015" cy="566928"/>
          </a:xfrm>
          <a:prstGeom prst="rect">
            <a:avLst/>
          </a:prstGeom>
          <a:noFill/>
          <a:ln/>
        </p:spPr>
        <p:txBody>
          <a:bodyPr wrap="square" lIns="0" tIns="0" rIns="0" bIns="0" rtlCol="0" anchor="ctr"/>
          <a:lstStyle/>
          <a:p>
            <a:pPr indent="0" marL="0">
              <a:buNone/>
            </a:pPr>
            <a:r>
              <a:rPr lang="en-US" sz="1200" dirty="0">
                <a:solidFill>
                  <a:srgbClr val="3A3A3F"/>
                </a:solidFill>
                <a:latin typeface="Helvetica Neue" pitchFamily="34" charset="0"/>
                <a:ea typeface="Helvetica Neue" pitchFamily="34" charset="-122"/>
                <a:cs typeface="Helvetica Neue" pitchFamily="34" charset="-120"/>
              </a:rPr>
              <a:t>polished machine text</a:t>
            </a:r>
            <a:endParaRPr lang="en-US" sz="1200" dirty="0"/>
          </a:p>
        </p:txBody>
      </p:sp>
      <p:sp>
        <p:nvSpPr>
          <p:cNvPr id="16" name="Shape 14"/>
          <p:cNvSpPr/>
          <p:nvPr/>
        </p:nvSpPr>
        <p:spPr>
          <a:xfrm>
            <a:off x="777240" y="5797296"/>
            <a:ext cx="10637215" cy="566928"/>
          </a:xfrm>
          <a:prstGeom prst="roundRect">
            <a:avLst>
              <a:gd name="adj" fmla="val 8065"/>
            </a:avLst>
          </a:prstGeom>
          <a:solidFill>
            <a:srgbClr val="F7F7F5"/>
          </a:solidFill>
          <a:ln w="6350">
            <a:solidFill>
              <a:srgbClr val="D9D9D6"/>
            </a:solidFill>
            <a:prstDash val="solid"/>
          </a:ln>
        </p:spPr>
      </p:sp>
      <p:sp>
        <p:nvSpPr>
          <p:cNvPr id="17" name="Text 15"/>
          <p:cNvSpPr/>
          <p:nvPr/>
        </p:nvSpPr>
        <p:spPr>
          <a:xfrm>
            <a:off x="1005840" y="5797296"/>
            <a:ext cx="2194560" cy="566928"/>
          </a:xfrm>
          <a:prstGeom prst="rect">
            <a:avLst/>
          </a:prstGeom>
          <a:noFill/>
          <a:ln/>
        </p:spPr>
        <p:txBody>
          <a:bodyPr wrap="none" lIns="0" tIns="0" rIns="0" bIns="0" rtlCol="0" anchor="ctr" vert="horz">
            <a:normAutofit/>
          </a:bodyPr>
          <a:lstStyle/>
          <a:p>
            <a:pPr algn="l" indent="0" marL="0">
              <a:buNone/>
            </a:pPr>
            <a:r>
              <a:rPr lang="en-US" sz="1300" b="1" dirty="0">
                <a:solidFill>
                  <a:srgbClr val="0A84FF"/>
                </a:solidFill>
                <a:latin typeface="Menlo" pitchFamily="34" charset="0"/>
                <a:ea typeface="Menlo" pitchFamily="34" charset="-122"/>
                <a:cs typeface="Menlo" pitchFamily="34" charset="-120"/>
              </a:rPr>
              <a:t>llm</a:t>
            </a:r>
            <a:endParaRPr lang="en-US" sz="1300" dirty="0"/>
          </a:p>
        </p:txBody>
      </p:sp>
      <p:sp>
        <p:nvSpPr>
          <p:cNvPr id="18" name="Text 16"/>
          <p:cNvSpPr/>
          <p:nvPr/>
        </p:nvSpPr>
        <p:spPr>
          <a:xfrm>
            <a:off x="3337560" y="5797296"/>
            <a:ext cx="7894015" cy="566928"/>
          </a:xfrm>
          <a:prstGeom prst="rect">
            <a:avLst/>
          </a:prstGeom>
          <a:noFill/>
          <a:ln/>
        </p:spPr>
        <p:txBody>
          <a:bodyPr wrap="square" lIns="0" tIns="0" rIns="0" bIns="0" rtlCol="0" anchor="ctr"/>
          <a:lstStyle/>
          <a:p>
            <a:pPr indent="0" marL="0">
              <a:buNone/>
            </a:pPr>
            <a:r>
              <a:rPr lang="en-US" sz="1200" dirty="0">
                <a:solidFill>
                  <a:srgbClr val="3A3A3F"/>
                </a:solidFill>
                <a:latin typeface="Helvetica Neue" pitchFamily="34" charset="0"/>
                <a:ea typeface="Helvetica Neue" pitchFamily="34" charset="-122"/>
                <a:cs typeface="Helvetica Neue" pitchFamily="34" charset="-120"/>
              </a:rPr>
              <a:t>authoritative over machine</a:t>
            </a:r>
            <a:endParaRPr lang="en-US" sz="1200" dirty="0"/>
          </a:p>
        </p:txBody>
      </p:sp>
      <p:sp>
        <p:nvSpPr>
          <p:cNvPr id="19" name="Shape 17"/>
          <p:cNvSpPr/>
          <p:nvPr/>
        </p:nvSpPr>
        <p:spPr>
          <a:xfrm>
            <a:off x="777240" y="6510528"/>
            <a:ext cx="10637215" cy="566928"/>
          </a:xfrm>
          <a:prstGeom prst="roundRect">
            <a:avLst>
              <a:gd name="adj" fmla="val 8065"/>
            </a:avLst>
          </a:prstGeom>
          <a:solidFill>
            <a:srgbClr val="F7F7F5"/>
          </a:solidFill>
          <a:ln w="6350">
            <a:solidFill>
              <a:srgbClr val="D9D9D6"/>
            </a:solidFill>
            <a:prstDash val="solid"/>
          </a:ln>
        </p:spPr>
      </p:sp>
      <p:sp>
        <p:nvSpPr>
          <p:cNvPr id="20" name="Text 18"/>
          <p:cNvSpPr/>
          <p:nvPr/>
        </p:nvSpPr>
        <p:spPr>
          <a:xfrm>
            <a:off x="1005840" y="6510528"/>
            <a:ext cx="2194560" cy="566928"/>
          </a:xfrm>
          <a:prstGeom prst="rect">
            <a:avLst/>
          </a:prstGeom>
          <a:noFill/>
          <a:ln/>
        </p:spPr>
        <p:txBody>
          <a:bodyPr wrap="none" lIns="0" tIns="0" rIns="0" bIns="0" rtlCol="0" anchor="ctr" vert="horz">
            <a:normAutofit/>
          </a:bodyPr>
          <a:lstStyle/>
          <a:p>
            <a:pPr algn="l" indent="0" marL="0">
              <a:buNone/>
            </a:pPr>
            <a:r>
              <a:rPr lang="en-US" sz="1300" b="1" dirty="0">
                <a:solidFill>
                  <a:srgbClr val="111114"/>
                </a:solidFill>
                <a:latin typeface="Menlo" pitchFamily="34" charset="0"/>
                <a:ea typeface="Menlo" pitchFamily="34" charset="-122"/>
                <a:cs typeface="Menlo" pitchFamily="34" charset="-120"/>
              </a:rPr>
              <a:t>human</a:t>
            </a:r>
            <a:endParaRPr lang="en-US" sz="1300" dirty="0"/>
          </a:p>
        </p:txBody>
      </p:sp>
      <p:sp>
        <p:nvSpPr>
          <p:cNvPr id="21" name="Text 19"/>
          <p:cNvSpPr/>
          <p:nvPr/>
        </p:nvSpPr>
        <p:spPr>
          <a:xfrm>
            <a:off x="3337560" y="6510528"/>
            <a:ext cx="7894015" cy="566928"/>
          </a:xfrm>
          <a:prstGeom prst="rect">
            <a:avLst/>
          </a:prstGeom>
          <a:noFill/>
          <a:ln/>
        </p:spPr>
        <p:txBody>
          <a:bodyPr wrap="square" lIns="0" tIns="0" rIns="0" bIns="0" rtlCol="0" anchor="ctr"/>
          <a:lstStyle/>
          <a:p>
            <a:pPr indent="0" marL="0">
              <a:buNone/>
            </a:pPr>
            <a:r>
              <a:rPr lang="en-US" sz="1200" dirty="0">
                <a:solidFill>
                  <a:srgbClr val="3A3A3F"/>
                </a:solidFill>
                <a:latin typeface="Helvetica Neue" pitchFamily="34" charset="0"/>
                <a:ea typeface="Helvetica Neue" pitchFamily="34" charset="-122"/>
                <a:cs typeface="Helvetica Neue" pitchFamily="34" charset="-120"/>
              </a:rPr>
              <a:t>never overwritten</a:t>
            </a:r>
            <a:endParaRPr lang="en-US" sz="1200" dirty="0"/>
          </a:p>
        </p:txBody>
      </p:sp>
      <p:sp>
        <p:nvSpPr>
          <p:cNvPr id="22" name="Text 20"/>
          <p:cNvSpPr/>
          <p:nvPr/>
        </p:nvSpPr>
        <p:spPr>
          <a:xfrm>
            <a:off x="777240" y="6144768"/>
            <a:ext cx="10637215"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mergeAutoFill() — lib/autofill-merge.ts · unit-tested in scripts/test-parser-trading.ts</a:t>
            </a:r>
            <a:endParaRPr lang="en-US" sz="1000" dirty="0"/>
          </a:p>
        </p:txBody>
      </p:sp>
      <p:sp>
        <p:nvSpPr>
          <p:cNvPr id="23" name="Text 21"/>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MAJOR FEATURE · 03</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Cloud LLM parse + bilingual call TLDR.</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5044288" cy="365760"/>
          </a:xfrm>
          <a:prstGeom prst="rect">
            <a:avLst/>
          </a:prstGeom>
          <a:noFill/>
          <a:ln/>
        </p:spPr>
        <p:txBody>
          <a:bodyPr wrap="none" lIns="0" tIns="0" rIns="0" bIns="0" rtlCol="0" anchor="ctr" vert="horz">
            <a:normAutofit/>
          </a:bodyPr>
          <a:lstStyle/>
          <a:p>
            <a:pPr algn="l" indent="0" marL="0">
              <a:buNone/>
            </a:pPr>
            <a:r>
              <a:rPr lang="en-US" sz="1200" b="1" dirty="0">
                <a:solidFill>
                  <a:srgbClr val="0A84FF"/>
                </a:solidFill>
                <a:latin typeface="Menlo" pitchFamily="34" charset="0"/>
                <a:ea typeface="Menlo" pitchFamily="34" charset="-122"/>
                <a:cs typeface="Menlo" pitchFamily="34" charset="-120"/>
              </a:rPr>
              <a:t>PARSE</a:t>
            </a:r>
            <a:endParaRPr lang="en-US" sz="1200" dirty="0"/>
          </a:p>
        </p:txBody>
      </p:sp>
      <p:sp>
        <p:nvSpPr>
          <p:cNvPr id="7" name="Text 5"/>
          <p:cNvSpPr/>
          <p:nvPr/>
        </p:nvSpPr>
        <p:spPr>
          <a:xfrm>
            <a:off x="777240" y="2880360"/>
            <a:ext cx="5044288" cy="2377440"/>
          </a:xfrm>
          <a:prstGeom prst="rect">
            <a:avLst/>
          </a:prstGeom>
          <a:noFill/>
          <a:ln/>
        </p:spPr>
        <p:txBody>
          <a:bodyPr wrap="square" lIns="0" tIns="0" rIns="0" bIns="0" rtlCol="0" anchor="t"/>
          <a:lstStyle/>
          <a:p>
            <a:pPr indent="0" marL="0">
              <a:lnSpc>
                <a:spcPct val="125000"/>
              </a:lnSpc>
              <a:buNone/>
            </a:pPr>
            <a:r>
              <a:rPr lang="en-US" sz="1250" dirty="0">
                <a:solidFill>
                  <a:srgbClr val="3A3A3F"/>
                </a:solidFill>
                <a:latin typeface="Helvetica Neue" pitchFamily="34" charset="0"/>
                <a:ea typeface="Helvetica Neue" pitchFamily="34" charset="-122"/>
                <a:cs typeface="Helvetica Neue" pitchFamily="34" charset="-120"/>
              </a:rPr>
              <a:t>Two buttons in the transcript header. Parse keeps every customer clause and every agent step; Concise trims to the 2–4 primary complaints and the 2–4 confirmed fixes.</a:t>
            </a:r>
            <a:endParaRPr lang="en-US" sz="1250" dirty="0"/>
          </a:p>
        </p:txBody>
      </p:sp>
      <p:sp>
        <p:nvSpPr>
          <p:cNvPr id="8" name="Text 6"/>
          <p:cNvSpPr/>
          <p:nvPr/>
        </p:nvSpPr>
        <p:spPr>
          <a:xfrm>
            <a:off x="777240" y="4297680"/>
            <a:ext cx="5044288" cy="457200"/>
          </a:xfrm>
          <a:prstGeom prst="rect">
            <a:avLst/>
          </a:prstGeom>
          <a:noFill/>
          <a:ln/>
        </p:spPr>
        <p:txBody>
          <a:bodyPr wrap="square" lIns="0" tIns="0" rIns="0" bIns="0" rtlCol="0" anchor="t"/>
          <a:lstStyle/>
          <a:p>
            <a:pPr indent="0" marL="0">
              <a:lnSpc>
                <a:spcPct val="120000"/>
              </a:lnSpc>
              <a:buNone/>
            </a:pPr>
            <a:r>
              <a:rPr lang="en-US" sz="1200" dirty="0">
                <a:solidFill>
                  <a:srgbClr val="3A3A3F"/>
                </a:solidFill>
                <a:latin typeface="Helvetica Neue" pitchFamily="34" charset="0"/>
                <a:ea typeface="Helvetica Neue" pitchFamily="34" charset="-122"/>
                <a:cs typeface="Helvetica Neue" pitchFamily="34" charset="-120"/>
              </a:rPr>
              <a:t>DeepSeek backend (optional API key).</a:t>
            </a:r>
            <a:endParaRPr lang="en-US" sz="1200" dirty="0"/>
          </a:p>
        </p:txBody>
      </p:sp>
      <p:sp>
        <p:nvSpPr>
          <p:cNvPr id="9" name="Text 7"/>
          <p:cNvSpPr/>
          <p:nvPr/>
        </p:nvSpPr>
        <p:spPr>
          <a:xfrm>
            <a:off x="777240" y="4572000"/>
            <a:ext cx="5044288" cy="457200"/>
          </a:xfrm>
          <a:prstGeom prst="rect">
            <a:avLst/>
          </a:prstGeom>
          <a:noFill/>
          <a:ln/>
        </p:spPr>
        <p:txBody>
          <a:bodyPr wrap="square" lIns="0" tIns="0" rIns="0" bIns="0" rtlCol="0" anchor="t"/>
          <a:lstStyle/>
          <a:p>
            <a:pPr indent="0" marL="0">
              <a:lnSpc>
                <a:spcPct val="120000"/>
              </a:lnSpc>
              <a:buNone/>
            </a:pPr>
            <a:r>
              <a:rPr lang="en-US" sz="1200" dirty="0">
                <a:solidFill>
                  <a:srgbClr val="3A3A3F"/>
                </a:solidFill>
                <a:latin typeface="Helvetica Neue" pitchFamily="34" charset="0"/>
                <a:ea typeface="Helvetica Neue" pitchFamily="34" charset="-122"/>
                <a:cs typeface="Helvetica Neue" pitchFamily="34" charset="-120"/>
              </a:rPr>
              <a:t>Streams progress inline.</a:t>
            </a:r>
            <a:endParaRPr lang="en-US" sz="1200" dirty="0"/>
          </a:p>
        </p:txBody>
      </p:sp>
      <p:sp>
        <p:nvSpPr>
          <p:cNvPr id="10" name="Text 8"/>
          <p:cNvSpPr/>
          <p:nvPr/>
        </p:nvSpPr>
        <p:spPr>
          <a:xfrm>
            <a:off x="777240" y="4846320"/>
            <a:ext cx="5044288" cy="457200"/>
          </a:xfrm>
          <a:prstGeom prst="rect">
            <a:avLst/>
          </a:prstGeom>
          <a:noFill/>
          <a:ln/>
        </p:spPr>
        <p:txBody>
          <a:bodyPr wrap="square" lIns="0" tIns="0" rIns="0" bIns="0" rtlCol="0" anchor="t"/>
          <a:lstStyle/>
          <a:p>
            <a:pPr indent="0" marL="0">
              <a:lnSpc>
                <a:spcPct val="120000"/>
              </a:lnSpc>
              <a:buNone/>
            </a:pPr>
            <a:r>
              <a:rPr lang="en-US" sz="1200" dirty="0">
                <a:solidFill>
                  <a:srgbClr val="3A3A3F"/>
                </a:solidFill>
                <a:latin typeface="Helvetica Neue" pitchFamily="34" charset="0"/>
                <a:ea typeface="Helvetica Neue" pitchFamily="34" charset="-122"/>
                <a:cs typeface="Helvetica Neue" pitchFamily="34" charset="-120"/>
              </a:rPr>
              <a:t>QA scoring runs alongside.</a:t>
            </a:r>
            <a:endParaRPr lang="en-US" sz="1200" dirty="0"/>
          </a:p>
        </p:txBody>
      </p:sp>
      <p:sp>
        <p:nvSpPr>
          <p:cNvPr id="11" name="Shape 9"/>
          <p:cNvSpPr/>
          <p:nvPr/>
        </p:nvSpPr>
        <p:spPr>
          <a:xfrm>
            <a:off x="6095848" y="2468880"/>
            <a:ext cx="0" cy="3657600"/>
          </a:xfrm>
          <a:prstGeom prst="line">
            <a:avLst/>
          </a:prstGeom>
          <a:noFill/>
          <a:ln w="6350">
            <a:solidFill>
              <a:srgbClr val="D9D9D6"/>
            </a:solidFill>
            <a:prstDash val="solid"/>
          </a:ln>
        </p:spPr>
      </p:sp>
      <p:sp>
        <p:nvSpPr>
          <p:cNvPr id="12" name="Text 10"/>
          <p:cNvSpPr/>
          <p:nvPr/>
        </p:nvSpPr>
        <p:spPr>
          <a:xfrm>
            <a:off x="6370168" y="2468880"/>
            <a:ext cx="5044288" cy="365760"/>
          </a:xfrm>
          <a:prstGeom prst="rect">
            <a:avLst/>
          </a:prstGeom>
          <a:noFill/>
          <a:ln/>
        </p:spPr>
        <p:txBody>
          <a:bodyPr wrap="none" lIns="0" tIns="0" rIns="0" bIns="0" rtlCol="0" anchor="ctr" vert="horz">
            <a:normAutofit/>
          </a:bodyPr>
          <a:lstStyle/>
          <a:p>
            <a:pPr algn="l" indent="0" marL="0">
              <a:buNone/>
            </a:pPr>
            <a:r>
              <a:rPr lang="en-US" sz="1200" b="1" dirty="0">
                <a:solidFill>
                  <a:srgbClr val="0A84FF"/>
                </a:solidFill>
                <a:latin typeface="Menlo" pitchFamily="34" charset="0"/>
                <a:ea typeface="Menlo" pitchFamily="34" charset="-122"/>
                <a:cs typeface="Menlo" pitchFamily="34" charset="-120"/>
              </a:rPr>
              <a:t>TLDR</a:t>
            </a:r>
            <a:endParaRPr lang="en-US" sz="1200" dirty="0"/>
          </a:p>
        </p:txBody>
      </p:sp>
      <p:sp>
        <p:nvSpPr>
          <p:cNvPr id="13" name="Text 11"/>
          <p:cNvSpPr/>
          <p:nvPr/>
        </p:nvSpPr>
        <p:spPr>
          <a:xfrm>
            <a:off x="6370168" y="2880360"/>
            <a:ext cx="5044288" cy="2377440"/>
          </a:xfrm>
          <a:prstGeom prst="rect">
            <a:avLst/>
          </a:prstGeom>
          <a:noFill/>
          <a:ln/>
        </p:spPr>
        <p:txBody>
          <a:bodyPr wrap="square" lIns="0" tIns="0" rIns="0" bIns="0" rtlCol="0" anchor="t"/>
          <a:lstStyle/>
          <a:p>
            <a:pPr indent="0" marL="0">
              <a:lnSpc>
                <a:spcPct val="125000"/>
              </a:lnSpc>
              <a:buNone/>
            </a:pPr>
            <a:r>
              <a:rPr lang="en-US" sz="1250" dirty="0">
                <a:solidFill>
                  <a:srgbClr val="3A3A3F"/>
                </a:solidFill>
                <a:latin typeface="Helvetica Neue" pitchFamily="34" charset="0"/>
                <a:ea typeface="Helvetica Neue" pitchFamily="34" charset="-122"/>
                <a:cs typeface="Helvetica Neue" pitchFamily="34" charset="-120"/>
              </a:rPr>
              <a:t>On French-call captures the panel regenerates an English + Chinese 1–3-sentence summary of the whole conversation — so an agent can follow a call they may not fully understand.</a:t>
            </a:r>
            <a:endParaRPr lang="en-US" sz="1250" dirty="0"/>
          </a:p>
        </p:txBody>
      </p:sp>
      <p:sp>
        <p:nvSpPr>
          <p:cNvPr id="14" name="Text 12"/>
          <p:cNvSpPr/>
          <p:nvPr/>
        </p:nvSpPr>
        <p:spPr>
          <a:xfrm>
            <a:off x="6370168" y="4297680"/>
            <a:ext cx="5044288" cy="457200"/>
          </a:xfrm>
          <a:prstGeom prst="rect">
            <a:avLst/>
          </a:prstGeom>
          <a:noFill/>
          <a:ln/>
        </p:spPr>
        <p:txBody>
          <a:bodyPr wrap="square" lIns="0" tIns="0" rIns="0" bIns="0" rtlCol="0" anchor="t"/>
          <a:lstStyle/>
          <a:p>
            <a:pPr indent="0" marL="0">
              <a:lnSpc>
                <a:spcPct val="120000"/>
              </a:lnSpc>
              <a:buNone/>
            </a:pPr>
            <a:r>
              <a:rPr lang="en-US" sz="1200" dirty="0">
                <a:solidFill>
                  <a:srgbClr val="3A3A3F"/>
                </a:solidFill>
                <a:latin typeface="Helvetica Neue" pitchFamily="34" charset="0"/>
                <a:ea typeface="Helvetica Neue" pitchFamily="34" charset="-122"/>
                <a:cs typeface="Helvetica Neue" pitchFamily="34" charset="-120"/>
              </a:rPr>
              <a:t>Refresh at 10s, 30s, then every 30s.</a:t>
            </a:r>
            <a:endParaRPr lang="en-US" sz="1200" dirty="0"/>
          </a:p>
        </p:txBody>
      </p:sp>
      <p:sp>
        <p:nvSpPr>
          <p:cNvPr id="15" name="Text 13"/>
          <p:cNvSpPr/>
          <p:nvPr/>
        </p:nvSpPr>
        <p:spPr>
          <a:xfrm>
            <a:off x="6370168" y="4572000"/>
            <a:ext cx="5044288" cy="457200"/>
          </a:xfrm>
          <a:prstGeom prst="rect">
            <a:avLst/>
          </a:prstGeom>
          <a:noFill/>
          <a:ln/>
        </p:spPr>
        <p:txBody>
          <a:bodyPr wrap="square" lIns="0" tIns="0" rIns="0" bIns="0" rtlCol="0" anchor="t"/>
          <a:lstStyle/>
          <a:p>
            <a:pPr indent="0" marL="0">
              <a:lnSpc>
                <a:spcPct val="120000"/>
              </a:lnSpc>
              <a:buNone/>
            </a:pPr>
            <a:r>
              <a:rPr lang="en-US" sz="1200" dirty="0">
                <a:solidFill>
                  <a:srgbClr val="3A3A3F"/>
                </a:solidFill>
                <a:latin typeface="Helvetica Neue" pitchFamily="34" charset="0"/>
                <a:ea typeface="Helvetica Neue" pitchFamily="34" charset="-122"/>
                <a:cs typeface="Helvetica Neue" pitchFamily="34" charset="-120"/>
              </a:rPr>
              <a:t>One request in flight at most.</a:t>
            </a:r>
            <a:endParaRPr lang="en-US" sz="1200" dirty="0"/>
          </a:p>
        </p:txBody>
      </p:sp>
      <p:sp>
        <p:nvSpPr>
          <p:cNvPr id="16" name="Text 14"/>
          <p:cNvSpPr/>
          <p:nvPr/>
        </p:nvSpPr>
        <p:spPr>
          <a:xfrm>
            <a:off x="6370168" y="4846320"/>
            <a:ext cx="5044288" cy="457200"/>
          </a:xfrm>
          <a:prstGeom prst="rect">
            <a:avLst/>
          </a:prstGeom>
          <a:noFill/>
          <a:ln/>
        </p:spPr>
        <p:txBody>
          <a:bodyPr wrap="square" lIns="0" tIns="0" rIns="0" bIns="0" rtlCol="0" anchor="t"/>
          <a:lstStyle/>
          <a:p>
            <a:pPr indent="0" marL="0">
              <a:lnSpc>
                <a:spcPct val="120000"/>
              </a:lnSpc>
              <a:buNone/>
            </a:pPr>
            <a:r>
              <a:rPr lang="en-US" sz="1200" dirty="0">
                <a:solidFill>
                  <a:srgbClr val="3A3A3F"/>
                </a:solidFill>
                <a:latin typeface="Helvetica Neue" pitchFamily="34" charset="0"/>
                <a:ea typeface="Helvetica Neue" pitchFamily="34" charset="-122"/>
                <a:cs typeface="Helvetica Neue" pitchFamily="34" charset="-120"/>
              </a:rPr>
              <a:t>Persists as the whole-call summary.</a:t>
            </a:r>
            <a:endParaRPr lang="en-US" sz="1200" dirty="0"/>
          </a:p>
        </p:txBody>
      </p:sp>
      <p:sp>
        <p:nvSpPr>
          <p:cNvPr id="17" name="Text 15"/>
          <p:cNvSpPr/>
          <p:nvPr/>
        </p:nvSpPr>
        <p:spPr>
          <a:xfrm>
            <a:off x="777240" y="6144768"/>
            <a:ext cx="10637215"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use-cloud-parser.ts · use-call-tldr.ts — bilingual because the local Qwen 0.5B cannot write Chinese.</a:t>
            </a:r>
            <a:endParaRPr lang="en-US" sz="1000" dirty="0"/>
          </a:p>
        </p:txBody>
      </p:sp>
      <p:sp>
        <p:nvSpPr>
          <p:cNvPr id="18" name="Text 16"/>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MAJOR FEATURE · 04</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A Chrome extension that reads and writes Salesforce.</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10637215" cy="1463040"/>
          </a:xfrm>
          <a:prstGeom prst="rect">
            <a:avLst/>
          </a:prstGeom>
          <a:noFill/>
          <a:ln/>
        </p:spPr>
        <p:txBody>
          <a:bodyPr wrap="square" lIns="0" tIns="0" rIns="0" bIns="0" rtlCol="0" anchor="t"/>
          <a:lstStyle/>
          <a:p>
            <a:pPr indent="0" marL="0">
              <a:lnSpc>
                <a:spcPct val="125000"/>
              </a:lnSpc>
              <a:buNone/>
            </a:pPr>
            <a:r>
              <a:rPr lang="en-US" sz="1350" dirty="0">
                <a:solidFill>
                  <a:srgbClr val="3A3A3F"/>
                </a:solidFill>
                <a:latin typeface="Helvetica Neue" pitchFamily="34" charset="0"/>
                <a:ea typeface="Helvetica Neue" pitchFamily="34" charset="-122"/>
                <a:cs typeface="Helvetica Neue" pitchFamily="34" charset="-120"/>
              </a:rPr>
              <a:t>A Tier-2 MV3 extension (“Ecovacs Note Helper”) bridges the React app and the agent's open Salesforce Console tab. Two transport channels, tried in order:</a:t>
            </a:r>
            <a:endParaRPr lang="en-US" sz="1350" dirty="0"/>
          </a:p>
        </p:txBody>
      </p:sp>
      <p:sp>
        <p:nvSpPr>
          <p:cNvPr id="7" name="Shape 5"/>
          <p:cNvSpPr/>
          <p:nvPr/>
        </p:nvSpPr>
        <p:spPr>
          <a:xfrm>
            <a:off x="777240" y="3383280"/>
            <a:ext cx="5029200" cy="1554480"/>
          </a:xfrm>
          <a:prstGeom prst="roundRect">
            <a:avLst>
              <a:gd name="adj" fmla="val 4706"/>
            </a:avLst>
          </a:prstGeom>
          <a:solidFill>
            <a:srgbClr val="F7F7F5"/>
          </a:solidFill>
          <a:ln w="6350">
            <a:solidFill>
              <a:srgbClr val="D9D9D6"/>
            </a:solidFill>
            <a:prstDash val="solid"/>
          </a:ln>
        </p:spPr>
      </p:sp>
      <p:sp>
        <p:nvSpPr>
          <p:cNvPr id="8" name="Text 6"/>
          <p:cNvSpPr/>
          <p:nvPr/>
        </p:nvSpPr>
        <p:spPr>
          <a:xfrm>
            <a:off x="1005840" y="3566160"/>
            <a:ext cx="640080" cy="365760"/>
          </a:xfrm>
          <a:prstGeom prst="rect">
            <a:avLst/>
          </a:prstGeom>
          <a:noFill/>
          <a:ln/>
        </p:spPr>
        <p:txBody>
          <a:bodyPr wrap="none" lIns="0" tIns="0" rIns="0" bIns="0" rtlCol="0" anchor="ctr" vert="horz">
            <a:normAutofit/>
          </a:bodyPr>
          <a:lstStyle/>
          <a:p>
            <a:pPr algn="l" indent="0" marL="0">
              <a:buNone/>
            </a:pPr>
            <a:r>
              <a:rPr lang="en-US" sz="1400" b="1" dirty="0">
                <a:solidFill>
                  <a:srgbClr val="0A84FF"/>
                </a:solidFill>
                <a:latin typeface="Menlo" pitchFamily="34" charset="0"/>
                <a:ea typeface="Menlo" pitchFamily="34" charset="-122"/>
                <a:cs typeface="Menlo" pitchFamily="34" charset="-120"/>
              </a:rPr>
              <a:t>01</a:t>
            </a:r>
            <a:endParaRPr lang="en-US" sz="1400" dirty="0"/>
          </a:p>
        </p:txBody>
      </p:sp>
      <p:sp>
        <p:nvSpPr>
          <p:cNvPr id="9" name="Text 7"/>
          <p:cNvSpPr/>
          <p:nvPr/>
        </p:nvSpPr>
        <p:spPr>
          <a:xfrm>
            <a:off x="1691640" y="3566160"/>
            <a:ext cx="3931920" cy="365760"/>
          </a:xfrm>
          <a:prstGeom prst="rect">
            <a:avLst/>
          </a:prstGeom>
          <a:noFill/>
          <a:ln/>
        </p:spPr>
        <p:txBody>
          <a:bodyPr wrap="square" lIns="0" tIns="0" rIns="0" bIns="0" rtlCol="0" anchor="ctr"/>
          <a:lstStyle/>
          <a:p>
            <a:pPr indent="0" marL="0">
              <a:buNone/>
            </a:pPr>
            <a:r>
              <a:rPr lang="en-US" sz="1100" b="1" dirty="0">
                <a:solidFill>
                  <a:srgbClr val="111114"/>
                </a:solidFill>
                <a:latin typeface="Menlo" pitchFamily="34" charset="0"/>
                <a:ea typeface="Menlo" pitchFamily="34" charset="-122"/>
                <a:cs typeface="Menlo" pitchFamily="34" charset="-120"/>
              </a:rPr>
              <a:t>chrome.runtime.sendMessage</a:t>
            </a:r>
            <a:endParaRPr lang="en-US" sz="1100" dirty="0"/>
          </a:p>
        </p:txBody>
      </p:sp>
      <p:sp>
        <p:nvSpPr>
          <p:cNvPr id="10" name="Text 8"/>
          <p:cNvSpPr/>
          <p:nvPr/>
        </p:nvSpPr>
        <p:spPr>
          <a:xfrm>
            <a:off x="1005840" y="4023360"/>
            <a:ext cx="4572000" cy="822960"/>
          </a:xfrm>
          <a:prstGeom prst="rect">
            <a:avLst/>
          </a:prstGeom>
          <a:noFill/>
          <a:ln/>
        </p:spPr>
        <p:txBody>
          <a:bodyPr wrap="square" lIns="0" tIns="0" rIns="0" bIns="0" rtlCol="0" anchor="t"/>
          <a:lstStyle/>
          <a:p>
            <a:pPr indent="0" marL="0">
              <a:lnSpc>
                <a:spcPct val="120000"/>
              </a:lnSpc>
              <a:buNone/>
            </a:pPr>
            <a:r>
              <a:rPr lang="en-US" sz="1100" dirty="0">
                <a:solidFill>
                  <a:srgbClr val="3A3A3F"/>
                </a:solidFill>
                <a:latin typeface="Helvetica Neue" pitchFamily="34" charset="0"/>
                <a:ea typeface="Helvetica Neue" pitchFamily="34" charset="-122"/>
                <a:cs typeface="Helvetica Neue" pitchFamily="34" charset="-120"/>
              </a:rPr>
              <a:t>official channel on blessed origins</a:t>
            </a:r>
            <a:endParaRPr lang="en-US" sz="1100" dirty="0"/>
          </a:p>
        </p:txBody>
      </p:sp>
      <p:sp>
        <p:nvSpPr>
          <p:cNvPr id="11" name="Shape 9"/>
          <p:cNvSpPr/>
          <p:nvPr/>
        </p:nvSpPr>
        <p:spPr>
          <a:xfrm>
            <a:off x="6080760" y="3383280"/>
            <a:ext cx="5029200" cy="1554480"/>
          </a:xfrm>
          <a:prstGeom prst="roundRect">
            <a:avLst>
              <a:gd name="adj" fmla="val 4706"/>
            </a:avLst>
          </a:prstGeom>
          <a:solidFill>
            <a:srgbClr val="F7F7F5"/>
          </a:solidFill>
          <a:ln w="6350">
            <a:solidFill>
              <a:srgbClr val="D9D9D6"/>
            </a:solidFill>
            <a:prstDash val="solid"/>
          </a:ln>
        </p:spPr>
      </p:sp>
      <p:sp>
        <p:nvSpPr>
          <p:cNvPr id="12" name="Text 10"/>
          <p:cNvSpPr/>
          <p:nvPr/>
        </p:nvSpPr>
        <p:spPr>
          <a:xfrm>
            <a:off x="6309360" y="3566160"/>
            <a:ext cx="640080" cy="365760"/>
          </a:xfrm>
          <a:prstGeom prst="rect">
            <a:avLst/>
          </a:prstGeom>
          <a:noFill/>
          <a:ln/>
        </p:spPr>
        <p:txBody>
          <a:bodyPr wrap="none" lIns="0" tIns="0" rIns="0" bIns="0" rtlCol="0" anchor="ctr" vert="horz">
            <a:normAutofit/>
          </a:bodyPr>
          <a:lstStyle/>
          <a:p>
            <a:pPr algn="l" indent="0" marL="0">
              <a:buNone/>
            </a:pPr>
            <a:r>
              <a:rPr lang="en-US" sz="1400" b="1" dirty="0">
                <a:solidFill>
                  <a:srgbClr val="0A84FF"/>
                </a:solidFill>
                <a:latin typeface="Menlo" pitchFamily="34" charset="0"/>
                <a:ea typeface="Menlo" pitchFamily="34" charset="-122"/>
                <a:cs typeface="Menlo" pitchFamily="34" charset="-120"/>
              </a:rPr>
              <a:t>02</a:t>
            </a:r>
            <a:endParaRPr lang="en-US" sz="1400" dirty="0"/>
          </a:p>
        </p:txBody>
      </p:sp>
      <p:sp>
        <p:nvSpPr>
          <p:cNvPr id="13" name="Text 11"/>
          <p:cNvSpPr/>
          <p:nvPr/>
        </p:nvSpPr>
        <p:spPr>
          <a:xfrm>
            <a:off x="6995160" y="3566160"/>
            <a:ext cx="3931920" cy="365760"/>
          </a:xfrm>
          <a:prstGeom prst="rect">
            <a:avLst/>
          </a:prstGeom>
          <a:noFill/>
          <a:ln/>
        </p:spPr>
        <p:txBody>
          <a:bodyPr wrap="square" lIns="0" tIns="0" rIns="0" bIns="0" rtlCol="0" anchor="ctr"/>
          <a:lstStyle/>
          <a:p>
            <a:pPr indent="0" marL="0">
              <a:buNone/>
            </a:pPr>
            <a:r>
              <a:rPr lang="en-US" sz="1100" b="1" dirty="0">
                <a:solidFill>
                  <a:srgbClr val="111114"/>
                </a:solidFill>
                <a:latin typeface="Menlo" pitchFamily="34" charset="0"/>
                <a:ea typeface="Menlo" pitchFamily="34" charset="-122"/>
                <a:cs typeface="Menlo" pitchFamily="34" charset="-120"/>
              </a:rPr>
              <a:t>window.postMessage + bridge.js</a:t>
            </a:r>
            <a:endParaRPr lang="en-US" sz="1100" dirty="0"/>
          </a:p>
        </p:txBody>
      </p:sp>
      <p:sp>
        <p:nvSpPr>
          <p:cNvPr id="14" name="Text 12"/>
          <p:cNvSpPr/>
          <p:nvPr/>
        </p:nvSpPr>
        <p:spPr>
          <a:xfrm>
            <a:off x="6309360" y="4023360"/>
            <a:ext cx="4572000" cy="822960"/>
          </a:xfrm>
          <a:prstGeom prst="rect">
            <a:avLst/>
          </a:prstGeom>
          <a:noFill/>
          <a:ln/>
        </p:spPr>
        <p:txBody>
          <a:bodyPr wrap="square" lIns="0" tIns="0" rIns="0" bIns="0" rtlCol="0" anchor="t"/>
          <a:lstStyle/>
          <a:p>
            <a:pPr indent="0" marL="0">
              <a:lnSpc>
                <a:spcPct val="120000"/>
              </a:lnSpc>
              <a:buNone/>
            </a:pPr>
            <a:r>
              <a:rPr lang="en-US" sz="1100" dirty="0">
                <a:solidFill>
                  <a:srgbClr val="3A3A3F"/>
                </a:solidFill>
                <a:latin typeface="Helvetica Neue" pitchFamily="34" charset="0"/>
                <a:ea typeface="Helvetica Neue" pitchFamily="34" charset="-122"/>
                <a:cs typeface="Helvetica Neue" pitchFamily="34" charset="-120"/>
              </a:rPr>
              <a:t>fallback for any custom host</a:t>
            </a:r>
            <a:endParaRPr lang="en-US" sz="1100" dirty="0"/>
          </a:p>
        </p:txBody>
      </p:sp>
      <p:sp>
        <p:nvSpPr>
          <p:cNvPr id="15" name="Text 13"/>
          <p:cNvSpPr/>
          <p:nvPr/>
        </p:nvSpPr>
        <p:spPr>
          <a:xfrm>
            <a:off x="777240" y="5212080"/>
            <a:ext cx="10637215" cy="1463040"/>
          </a:xfrm>
          <a:prstGeom prst="rect">
            <a:avLst/>
          </a:prstGeom>
          <a:noFill/>
          <a:ln/>
        </p:spPr>
        <p:txBody>
          <a:bodyPr wrap="square" lIns="0" tIns="0" rIns="0" bIns="0" rtlCol="0" anchor="t"/>
          <a:lstStyle/>
          <a:p>
            <a:pPr indent="0" marL="0">
              <a:lnSpc>
                <a:spcPct val="125000"/>
              </a:lnSpc>
              <a:buNone/>
            </a:pPr>
            <a:r>
              <a:rPr lang="en-US" sz="1250" dirty="0">
                <a:solidFill>
                  <a:srgbClr val="3A3A3F"/>
                </a:solidFill>
                <a:latin typeface="Helvetica Neue" pitchFamily="34" charset="0"/>
                <a:ea typeface="Helvetica Neue" pitchFamily="34" charset="-122"/>
                <a:cs typeface="Helvetica Neue" pitchFamily="34" charset="-120"/>
              </a:rPr>
              <a:t>Pull: scrapeAll() imports the open case fields into the form, tagged source 'dom-ext'. Push: applyCaseFields() writes the post body + customer fields back to the case tab.</a:t>
            </a:r>
            <a:endParaRPr lang="en-US" sz="1250" dirty="0"/>
          </a:p>
        </p:txBody>
      </p:sp>
      <p:sp>
        <p:nvSpPr>
          <p:cNvPr id="16" name="Text 14"/>
          <p:cNvSpPr/>
          <p:nvPr/>
        </p:nvSpPr>
        <p:spPr>
          <a:xfrm>
            <a:off x="777240" y="6144768"/>
            <a:ext cx="10637215"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use-ccp-extension-bridge.ts · extension/ — externally_connectable + content-script fallback.</a:t>
            </a:r>
            <a:endParaRPr lang="en-US" sz="1000" dirty="0"/>
          </a:p>
        </p:txBody>
      </p:sp>
      <p:sp>
        <p:nvSpPr>
          <p:cNvPr id="17" name="Text 15"/>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MAJOR FEATURE · 05</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Product lookup — ten knowledge tabs in one panel.</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5852160" cy="1463040"/>
          </a:xfrm>
          <a:prstGeom prst="rect">
            <a:avLst/>
          </a:prstGeom>
          <a:noFill/>
          <a:ln/>
        </p:spPr>
        <p:txBody>
          <a:bodyPr wrap="square" lIns="0" tIns="0" rIns="0" bIns="0" rtlCol="0" anchor="t"/>
          <a:lstStyle/>
          <a:p>
            <a:pPr indent="0" marL="0">
              <a:lnSpc>
                <a:spcPct val="125000"/>
              </a:lnSpc>
              <a:buNone/>
            </a:pPr>
            <a:r>
              <a:rPr lang="en-US" sz="1300" dirty="0">
                <a:solidFill>
                  <a:srgbClr val="3A3A3F"/>
                </a:solidFill>
                <a:latin typeface="Helvetica Neue" pitchFamily="34" charset="0"/>
                <a:ea typeface="Helvetica Neue" pitchFamily="34" charset="-122"/>
                <a:cs typeface="Helvetica Neue" pitchFamily="34" charset="-120"/>
              </a:rPr>
              <a:t>One panel, ten tabs: specs, error codes, FAQ, templates, news, firmware, app updates, scientist notes, free search, and selling tips. Everything an agent needs mid-call, auto-narrowed by the robot model selected on the form.</a:t>
            </a:r>
            <a:endParaRPr lang="en-US" sz="1300" dirty="0"/>
          </a:p>
        </p:txBody>
      </p:sp>
      <p:sp>
        <p:nvSpPr>
          <p:cNvPr id="7" name="Text 5"/>
          <p:cNvSpPr/>
          <p:nvPr/>
        </p:nvSpPr>
        <p:spPr>
          <a:xfrm>
            <a:off x="777240" y="3931920"/>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Fuzzy model match against the form.</a:t>
            </a:r>
            <a:endParaRPr lang="en-US" sz="1250" dirty="0"/>
          </a:p>
        </p:txBody>
      </p:sp>
      <p:sp>
        <p:nvSpPr>
          <p:cNvPr id="8" name="Text 6"/>
          <p:cNvSpPr/>
          <p:nvPr/>
        </p:nvSpPr>
        <p:spPr>
          <a:xfrm>
            <a:off x="777240" y="4224528"/>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Bilingual (EN + 中文) free search.</a:t>
            </a:r>
            <a:endParaRPr lang="en-US" sz="1250" dirty="0"/>
          </a:p>
        </p:txBody>
      </p:sp>
      <p:sp>
        <p:nvSpPr>
          <p:cNvPr id="9" name="Text 7"/>
          <p:cNvSpPr/>
          <p:nvPr/>
        </p:nvSpPr>
        <p:spPr>
          <a:xfrm>
            <a:off x="777240" y="4517136"/>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Spec comparison across models.</a:t>
            </a:r>
            <a:endParaRPr lang="en-US" sz="1250" dirty="0"/>
          </a:p>
        </p:txBody>
      </p:sp>
      <p:sp>
        <p:nvSpPr>
          <p:cNvPr id="10" name="Text 8"/>
          <p:cNvSpPr/>
          <p:nvPr/>
        </p:nvSpPr>
        <p:spPr>
          <a:xfrm>
            <a:off x="777240" y="4809744"/>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Error codes cross-checked vs. issue text.</a:t>
            </a:r>
            <a:endParaRPr lang="en-US" sz="1250" dirty="0"/>
          </a:p>
        </p:txBody>
      </p:sp>
      <p:pic>
        <p:nvPicPr>
          <p:cNvPr id="11" name="Image 0" descr="/Users/susul/Dev/econote/note-master/ppt-build/assets/fit/fit_02_product_lookup.png">    </p:cNvPr>
          <p:cNvPicPr>
            <a:picLocks noChangeAspect="1"/>
          </p:cNvPicPr>
          <p:nvPr/>
        </p:nvPicPr>
        <p:blipFill>
          <a:blip r:embed="rId1"/>
          <a:stretch>
            <a:fillRect/>
          </a:stretch>
        </p:blipFill>
        <p:spPr>
          <a:xfrm>
            <a:off x="6400800" y="2468880"/>
            <a:ext cx="5120640" cy="3792474"/>
          </a:xfrm>
          <a:prstGeom prst="rect">
            <a:avLst/>
          </a:prstGeom>
        </p:spPr>
      </p:pic>
      <p:sp>
        <p:nvSpPr>
          <p:cNvPr id="12" name="Shape 9"/>
          <p:cNvSpPr/>
          <p:nvPr/>
        </p:nvSpPr>
        <p:spPr>
          <a:xfrm>
            <a:off x="6400800" y="2468880"/>
            <a:ext cx="5120640" cy="3792474"/>
          </a:xfrm>
          <a:prstGeom prst="rect">
            <a:avLst/>
          </a:prstGeom>
          <a:ln w="6350">
            <a:solidFill>
              <a:srgbClr val="D9D9D6"/>
            </a:solidFill>
            <a:prstDash val="solid"/>
          </a:ln>
        </p:spPr>
      </p:sp>
      <p:sp>
        <p:nvSpPr>
          <p:cNvPr id="13" name="Text 10"/>
          <p:cNvSpPr/>
          <p:nvPr/>
        </p:nvSpPr>
        <p:spPr>
          <a:xfrm>
            <a:off x="6400800" y="6144768"/>
            <a:ext cx="5120640"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Product Lookup panel — GOAT O1000 LiDAR PRO specs.</a:t>
            </a:r>
            <a:endParaRPr lang="en-US" sz="1000" dirty="0"/>
          </a:p>
        </p:txBody>
      </p:sp>
      <p:sp>
        <p:nvSpPr>
          <p:cNvPr id="14" name="Text 11"/>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MAJOR FEATURE · 06</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The SOP handbook, indexed and AI-reranked.</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5852160" cy="1463040"/>
          </a:xfrm>
          <a:prstGeom prst="rect">
            <a:avLst/>
          </a:prstGeom>
          <a:noFill/>
          <a:ln/>
        </p:spPr>
        <p:txBody>
          <a:bodyPr wrap="square" lIns="0" tIns="0" rIns="0" bIns="0" rtlCol="0" anchor="t"/>
          <a:lstStyle/>
          <a:p>
            <a:pPr indent="0" marL="0">
              <a:lnSpc>
                <a:spcPct val="125000"/>
              </a:lnSpc>
              <a:buNone/>
            </a:pPr>
            <a:r>
              <a:rPr lang="en-US" sz="1300" dirty="0">
                <a:solidFill>
                  <a:srgbClr val="3A3A3F"/>
                </a:solidFill>
                <a:latin typeface="Helvetica Neue" pitchFamily="34" charset="0"/>
                <a:ea typeface="Helvetica Neue" pitchFamily="34" charset="-122"/>
                <a:cs typeface="Helvetica Neue" pitchFamily="34" charset="-120"/>
              </a:rPr>
              <a:t>The handbook ships as numbered markdown sections, lazy-loaded so the app shell paints first. A bilingual tokenizer (English words + Chinese 2-grams) indexes 142 headings; title matches weigh 4× body matches.</a:t>
            </a:r>
            <a:endParaRPr lang="en-US" sz="1300" dirty="0"/>
          </a:p>
        </p:txBody>
      </p:sp>
      <p:sp>
        <p:nvSpPr>
          <p:cNvPr id="7" name="Text 5"/>
          <p:cNvSpPr/>
          <p:nvPr/>
        </p:nvSpPr>
        <p:spPr>
          <a:xfrm>
            <a:off x="777240" y="3931920"/>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As the form fills, candidate chips auto-rank.</a:t>
            </a:r>
            <a:endParaRPr lang="en-US" sz="1250" dirty="0"/>
          </a:p>
        </p:txBody>
      </p:sp>
      <p:sp>
        <p:nvSpPr>
          <p:cNvPr id="8" name="Text 6"/>
          <p:cNvSpPr/>
          <p:nvPr/>
        </p:nvSpPr>
        <p:spPr>
          <a:xfrm>
            <a:off x="777240" y="4224528"/>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“SOP AI Match” reranks with DeepSeek.</a:t>
            </a:r>
            <a:endParaRPr lang="en-US" sz="1250" dirty="0"/>
          </a:p>
        </p:txBody>
      </p:sp>
      <p:sp>
        <p:nvSpPr>
          <p:cNvPr id="9" name="Text 7"/>
          <p:cNvSpPr/>
          <p:nvPr/>
        </p:nvSpPr>
        <p:spPr>
          <a:xfrm>
            <a:off x="777240" y="4517136"/>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Click a chip to read the full section.</a:t>
            </a:r>
            <a:endParaRPr lang="en-US" sz="1250" dirty="0"/>
          </a:p>
        </p:txBody>
      </p:sp>
      <p:sp>
        <p:nvSpPr>
          <p:cNvPr id="10" name="Text 8"/>
          <p:cNvSpPr/>
          <p:nvPr/>
        </p:nvSpPr>
        <p:spPr>
          <a:xfrm>
            <a:off x="777240" y="4809744"/>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Markdown rendered with theme styles.</a:t>
            </a:r>
            <a:endParaRPr lang="en-US" sz="1250" dirty="0"/>
          </a:p>
        </p:txBody>
      </p:sp>
      <p:pic>
        <p:nvPicPr>
          <p:cNvPr id="11" name="Image 0" descr="/Users/susul/Dev/econote/note-master/ppt-build/assets/fit/fit_03_sop_panel.png">    </p:cNvPr>
          <p:cNvPicPr>
            <a:picLocks noChangeAspect="1"/>
          </p:cNvPicPr>
          <p:nvPr/>
        </p:nvPicPr>
        <p:blipFill>
          <a:blip r:embed="rId1"/>
          <a:stretch>
            <a:fillRect/>
          </a:stretch>
        </p:blipFill>
        <p:spPr>
          <a:xfrm>
            <a:off x="6400800" y="2468880"/>
            <a:ext cx="5120640" cy="3792474"/>
          </a:xfrm>
          <a:prstGeom prst="rect">
            <a:avLst/>
          </a:prstGeom>
        </p:spPr>
      </p:pic>
      <p:sp>
        <p:nvSpPr>
          <p:cNvPr id="12" name="Shape 9"/>
          <p:cNvSpPr/>
          <p:nvPr/>
        </p:nvSpPr>
        <p:spPr>
          <a:xfrm>
            <a:off x="6400800" y="2468880"/>
            <a:ext cx="5120640" cy="3792474"/>
          </a:xfrm>
          <a:prstGeom prst="rect">
            <a:avLst/>
          </a:prstGeom>
          <a:ln w="6350">
            <a:solidFill>
              <a:srgbClr val="D9D9D6"/>
            </a:solidFill>
            <a:prstDash val="solid"/>
          </a:ln>
        </p:spPr>
      </p:sp>
      <p:sp>
        <p:nvSpPr>
          <p:cNvPr id="13" name="Text 10"/>
          <p:cNvSpPr/>
          <p:nvPr/>
        </p:nvSpPr>
        <p:spPr>
          <a:xfrm>
            <a:off x="6400800" y="6144768"/>
            <a:ext cx="5120640"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SOP panel — 142 headings indexed, keyword candidates pending.</a:t>
            </a:r>
            <a:endParaRPr lang="en-US" sz="1000" dirty="0"/>
          </a:p>
        </p:txBody>
      </p:sp>
      <p:sp>
        <p:nvSpPr>
          <p:cNvPr id="14" name="Text 11"/>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MAJOR FEATURE · 07</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SKU spare-parts lookup across 11,800 parts.</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10637215" cy="1463040"/>
          </a:xfrm>
          <a:prstGeom prst="rect">
            <a:avLst/>
          </a:prstGeom>
          <a:noFill/>
          <a:ln/>
        </p:spPr>
        <p:txBody>
          <a:bodyPr wrap="square" lIns="0" tIns="0" rIns="0" bIns="0" rtlCol="0" anchor="t"/>
          <a:lstStyle/>
          <a:p>
            <a:pPr indent="0" marL="0">
              <a:lnSpc>
                <a:spcPct val="125000"/>
              </a:lnSpc>
              <a:buNone/>
            </a:pPr>
            <a:r>
              <a:rPr lang="en-US" sz="1350" dirty="0">
                <a:solidFill>
                  <a:srgbClr val="3A3A3F"/>
                </a:solidFill>
                <a:latin typeface="Helvetica Neue" pitchFamily="34" charset="0"/>
                <a:ea typeface="Helvetica Neue" pitchFamily="34" charset="-122"/>
                <a:cs typeface="Helvetica Neue" pitchFamily="34" charset="-120"/>
              </a:rPr>
              <a:t>A four-stage classifier chain narrows the ~11.8k-part database to the one part the agent needs, then auto-fills the SKU field with “SKU — English part name.”</a:t>
            </a:r>
            <a:endParaRPr lang="en-US" sz="1350" dirty="0"/>
          </a:p>
        </p:txBody>
      </p:sp>
      <p:sp>
        <p:nvSpPr>
          <p:cNvPr id="7" name="Shape 5"/>
          <p:cNvSpPr/>
          <p:nvPr/>
        </p:nvSpPr>
        <p:spPr>
          <a:xfrm>
            <a:off x="777240" y="3383280"/>
            <a:ext cx="2487854" cy="1554480"/>
          </a:xfrm>
          <a:prstGeom prst="roundRect">
            <a:avLst>
              <a:gd name="adj" fmla="val 3529"/>
            </a:avLst>
          </a:prstGeom>
          <a:solidFill>
            <a:srgbClr val="F7F7F5"/>
          </a:solidFill>
          <a:ln w="6350">
            <a:solidFill>
              <a:srgbClr val="D9D9D6"/>
            </a:solidFill>
            <a:prstDash val="solid"/>
          </a:ln>
        </p:spPr>
      </p:sp>
      <p:sp>
        <p:nvSpPr>
          <p:cNvPr id="8" name="Text 6"/>
          <p:cNvSpPr/>
          <p:nvPr/>
        </p:nvSpPr>
        <p:spPr>
          <a:xfrm>
            <a:off x="960120" y="3520440"/>
            <a:ext cx="457200" cy="365760"/>
          </a:xfrm>
          <a:prstGeom prst="rect">
            <a:avLst/>
          </a:prstGeom>
          <a:noFill/>
          <a:ln/>
        </p:spPr>
        <p:txBody>
          <a:bodyPr wrap="none" lIns="0" tIns="0" rIns="0" bIns="0" rtlCol="0" anchor="ctr" vert="horz">
            <a:normAutofit/>
          </a:bodyPr>
          <a:lstStyle/>
          <a:p>
            <a:pPr algn="l" indent="0" marL="0">
              <a:buNone/>
            </a:pPr>
            <a:r>
              <a:rPr lang="en-US" sz="1400" b="1" dirty="0">
                <a:solidFill>
                  <a:srgbClr val="0A84FF"/>
                </a:solidFill>
                <a:latin typeface="Menlo" pitchFamily="34" charset="0"/>
                <a:ea typeface="Menlo" pitchFamily="34" charset="-122"/>
                <a:cs typeface="Menlo" pitchFamily="34" charset="-120"/>
              </a:rPr>
              <a:t>1</a:t>
            </a:r>
            <a:endParaRPr lang="en-US" sz="1400" dirty="0"/>
          </a:p>
        </p:txBody>
      </p:sp>
      <p:sp>
        <p:nvSpPr>
          <p:cNvPr id="9" name="Text 7"/>
          <p:cNvSpPr/>
          <p:nvPr/>
        </p:nvSpPr>
        <p:spPr>
          <a:xfrm>
            <a:off x="1463040" y="3520440"/>
            <a:ext cx="1664894" cy="365760"/>
          </a:xfrm>
          <a:prstGeom prst="rect">
            <a:avLst/>
          </a:prstGeom>
          <a:noFill/>
          <a:ln/>
        </p:spPr>
        <p:txBody>
          <a:bodyPr wrap="square" lIns="0" tIns="0" rIns="0" bIns="0" rtlCol="0" anchor="ctr"/>
          <a:lstStyle/>
          <a:p>
            <a:pPr indent="0" marL="0">
              <a:buNone/>
            </a:pPr>
            <a:r>
              <a:rPr lang="en-US" sz="1250" b="1" dirty="0">
                <a:solidFill>
                  <a:srgbClr val="111114"/>
                </a:solidFill>
                <a:latin typeface="Helvetica Neue" pitchFamily="34" charset="0"/>
                <a:ea typeface="Helvetica Neue" pitchFamily="34" charset="-122"/>
                <a:cs typeface="Helvetica Neue" pitchFamily="34" charset="-120"/>
              </a:rPr>
              <a:t>Robot Model</a:t>
            </a:r>
            <a:endParaRPr lang="en-US" sz="1250" dirty="0"/>
          </a:p>
        </p:txBody>
      </p:sp>
      <p:sp>
        <p:nvSpPr>
          <p:cNvPr id="10" name="Text 8"/>
          <p:cNvSpPr/>
          <p:nvPr/>
        </p:nvSpPr>
        <p:spPr>
          <a:xfrm>
            <a:off x="960120" y="3977640"/>
            <a:ext cx="2122094" cy="914400"/>
          </a:xfrm>
          <a:prstGeom prst="rect">
            <a:avLst/>
          </a:prstGeom>
          <a:noFill/>
          <a:ln/>
        </p:spPr>
        <p:txBody>
          <a:bodyPr wrap="square" lIns="0" tIns="0" rIns="0" bIns="0" rtlCol="0" anchor="t"/>
          <a:lstStyle/>
          <a:p>
            <a:pPr indent="0" marL="0">
              <a:lnSpc>
                <a:spcPct val="120000"/>
              </a:lnSpc>
              <a:buNone/>
            </a:pPr>
            <a:r>
              <a:rPr lang="en-US" sz="1050" dirty="0">
                <a:solidFill>
                  <a:srgbClr val="3A3A3F"/>
                </a:solidFill>
                <a:latin typeface="Helvetica Neue" pitchFamily="34" charset="0"/>
                <a:ea typeface="Helvetica Neue" pitchFamily="34" charset="-122"/>
                <a:cs typeface="Helvetica Neue" pitchFamily="34" charset="-120"/>
              </a:rPr>
              <a:t>fuzzy: “T30S PRO” → DEEBOT T30S PRO list</a:t>
            </a:r>
            <a:endParaRPr lang="en-US" sz="1050" dirty="0"/>
          </a:p>
        </p:txBody>
      </p:sp>
      <p:sp>
        <p:nvSpPr>
          <p:cNvPr id="11" name="Text 9"/>
          <p:cNvSpPr/>
          <p:nvPr/>
        </p:nvSpPr>
        <p:spPr>
          <a:xfrm>
            <a:off x="3265094" y="3383280"/>
            <a:ext cx="228600" cy="1554480"/>
          </a:xfrm>
          <a:prstGeom prst="rect">
            <a:avLst/>
          </a:prstGeom>
          <a:noFill/>
          <a:ln/>
        </p:spPr>
        <p:txBody>
          <a:bodyPr wrap="square" lIns="0" tIns="0" rIns="0" bIns="0" rtlCol="0" anchor="ctr"/>
          <a:lstStyle/>
          <a:p>
            <a:pPr algn="ctr" indent="0" marL="0">
              <a:buNone/>
            </a:pPr>
            <a:r>
              <a:rPr lang="en-US" sz="1400" dirty="0">
                <a:solidFill>
                  <a:srgbClr val="7A7A80"/>
                </a:solidFill>
                <a:latin typeface="Helvetica Neue" pitchFamily="34" charset="0"/>
                <a:ea typeface="Helvetica Neue" pitchFamily="34" charset="-122"/>
                <a:cs typeface="Helvetica Neue" pitchFamily="34" charset="-120"/>
              </a:rPr>
              <a:t>→</a:t>
            </a:r>
            <a:endParaRPr lang="en-US" sz="1400" dirty="0"/>
          </a:p>
        </p:txBody>
      </p:sp>
      <p:sp>
        <p:nvSpPr>
          <p:cNvPr id="12" name="Shape 10"/>
          <p:cNvSpPr/>
          <p:nvPr/>
        </p:nvSpPr>
        <p:spPr>
          <a:xfrm>
            <a:off x="3493694" y="3383280"/>
            <a:ext cx="2487854" cy="1554480"/>
          </a:xfrm>
          <a:prstGeom prst="roundRect">
            <a:avLst>
              <a:gd name="adj" fmla="val 3529"/>
            </a:avLst>
          </a:prstGeom>
          <a:solidFill>
            <a:srgbClr val="F7F7F5"/>
          </a:solidFill>
          <a:ln w="6350">
            <a:solidFill>
              <a:srgbClr val="D9D9D6"/>
            </a:solidFill>
            <a:prstDash val="solid"/>
          </a:ln>
        </p:spPr>
      </p:sp>
      <p:sp>
        <p:nvSpPr>
          <p:cNvPr id="13" name="Text 11"/>
          <p:cNvSpPr/>
          <p:nvPr/>
        </p:nvSpPr>
        <p:spPr>
          <a:xfrm>
            <a:off x="3676574" y="3520440"/>
            <a:ext cx="457200" cy="365760"/>
          </a:xfrm>
          <a:prstGeom prst="rect">
            <a:avLst/>
          </a:prstGeom>
          <a:noFill/>
          <a:ln/>
        </p:spPr>
        <p:txBody>
          <a:bodyPr wrap="none" lIns="0" tIns="0" rIns="0" bIns="0" rtlCol="0" anchor="ctr" vert="horz">
            <a:normAutofit/>
          </a:bodyPr>
          <a:lstStyle/>
          <a:p>
            <a:pPr algn="l" indent="0" marL="0">
              <a:buNone/>
            </a:pPr>
            <a:r>
              <a:rPr lang="en-US" sz="1400" b="1" dirty="0">
                <a:solidFill>
                  <a:srgbClr val="0A84FF"/>
                </a:solidFill>
                <a:latin typeface="Menlo" pitchFamily="34" charset="0"/>
                <a:ea typeface="Menlo" pitchFamily="34" charset="-122"/>
                <a:cs typeface="Menlo" pitchFamily="34" charset="-120"/>
              </a:rPr>
              <a:t>2</a:t>
            </a:r>
            <a:endParaRPr lang="en-US" sz="1400" dirty="0"/>
          </a:p>
        </p:txBody>
      </p:sp>
      <p:sp>
        <p:nvSpPr>
          <p:cNvPr id="14" name="Text 12"/>
          <p:cNvSpPr/>
          <p:nvPr/>
        </p:nvSpPr>
        <p:spPr>
          <a:xfrm>
            <a:off x="4179494" y="3520440"/>
            <a:ext cx="1664894" cy="365760"/>
          </a:xfrm>
          <a:prstGeom prst="rect">
            <a:avLst/>
          </a:prstGeom>
          <a:noFill/>
          <a:ln/>
        </p:spPr>
        <p:txBody>
          <a:bodyPr wrap="square" lIns="0" tIns="0" rIns="0" bIns="0" rtlCol="0" anchor="ctr"/>
          <a:lstStyle/>
          <a:p>
            <a:pPr indent="0" marL="0">
              <a:buNone/>
            </a:pPr>
            <a:r>
              <a:rPr lang="en-US" sz="1250" b="1" dirty="0">
                <a:solidFill>
                  <a:srgbClr val="111114"/>
                </a:solidFill>
                <a:latin typeface="Helvetica Neue" pitchFamily="34" charset="0"/>
                <a:ea typeface="Helvetica Neue" pitchFamily="34" charset="-122"/>
                <a:cs typeface="Helvetica Neue" pitchFamily="34" charset="-120"/>
              </a:rPr>
              <a:t>Robot ↔ Base</a:t>
            </a:r>
            <a:endParaRPr lang="en-US" sz="1250" dirty="0"/>
          </a:p>
        </p:txBody>
      </p:sp>
      <p:sp>
        <p:nvSpPr>
          <p:cNvPr id="15" name="Text 13"/>
          <p:cNvSpPr/>
          <p:nvPr/>
        </p:nvSpPr>
        <p:spPr>
          <a:xfrm>
            <a:off x="3676574" y="3977640"/>
            <a:ext cx="2122094" cy="914400"/>
          </a:xfrm>
          <a:prstGeom prst="rect">
            <a:avLst/>
          </a:prstGeom>
          <a:noFill/>
          <a:ln/>
        </p:spPr>
        <p:txBody>
          <a:bodyPr wrap="square" lIns="0" tIns="0" rIns="0" bIns="0" rtlCol="0" anchor="t"/>
          <a:lstStyle/>
          <a:p>
            <a:pPr indent="0" marL="0">
              <a:lnSpc>
                <a:spcPct val="120000"/>
              </a:lnSpc>
              <a:buNone/>
            </a:pPr>
            <a:r>
              <a:rPr lang="en-US" sz="1050" dirty="0">
                <a:solidFill>
                  <a:srgbClr val="3A3A3F"/>
                </a:solidFill>
                <a:latin typeface="Helvetica Neue" pitchFamily="34" charset="0"/>
                <a:ea typeface="Helvetica Neue" pitchFamily="34" charset="-122"/>
                <a:cs typeface="Helvetica Neue" pitchFamily="34" charset="-120"/>
              </a:rPr>
              <a:t>workbooks ship separate sheets per side</a:t>
            </a:r>
            <a:endParaRPr lang="en-US" sz="1050" dirty="0"/>
          </a:p>
        </p:txBody>
      </p:sp>
      <p:sp>
        <p:nvSpPr>
          <p:cNvPr id="16" name="Text 14"/>
          <p:cNvSpPr/>
          <p:nvPr/>
        </p:nvSpPr>
        <p:spPr>
          <a:xfrm>
            <a:off x="5981548" y="3383280"/>
            <a:ext cx="228600" cy="1554480"/>
          </a:xfrm>
          <a:prstGeom prst="rect">
            <a:avLst/>
          </a:prstGeom>
          <a:noFill/>
          <a:ln/>
        </p:spPr>
        <p:txBody>
          <a:bodyPr wrap="square" lIns="0" tIns="0" rIns="0" bIns="0" rtlCol="0" anchor="ctr"/>
          <a:lstStyle/>
          <a:p>
            <a:pPr algn="ctr" indent="0" marL="0">
              <a:buNone/>
            </a:pPr>
            <a:r>
              <a:rPr lang="en-US" sz="1400" dirty="0">
                <a:solidFill>
                  <a:srgbClr val="7A7A80"/>
                </a:solidFill>
                <a:latin typeface="Helvetica Neue" pitchFamily="34" charset="0"/>
                <a:ea typeface="Helvetica Neue" pitchFamily="34" charset="-122"/>
                <a:cs typeface="Helvetica Neue" pitchFamily="34" charset="-120"/>
              </a:rPr>
              <a:t>→</a:t>
            </a:r>
            <a:endParaRPr lang="en-US" sz="1400" dirty="0"/>
          </a:p>
        </p:txBody>
      </p:sp>
      <p:sp>
        <p:nvSpPr>
          <p:cNvPr id="17" name="Shape 15"/>
          <p:cNvSpPr/>
          <p:nvPr/>
        </p:nvSpPr>
        <p:spPr>
          <a:xfrm>
            <a:off x="6210148" y="3383280"/>
            <a:ext cx="2487854" cy="1554480"/>
          </a:xfrm>
          <a:prstGeom prst="roundRect">
            <a:avLst>
              <a:gd name="adj" fmla="val 3529"/>
            </a:avLst>
          </a:prstGeom>
          <a:solidFill>
            <a:srgbClr val="F7F7F5"/>
          </a:solidFill>
          <a:ln w="6350">
            <a:solidFill>
              <a:srgbClr val="D9D9D6"/>
            </a:solidFill>
            <a:prstDash val="solid"/>
          </a:ln>
        </p:spPr>
      </p:sp>
      <p:sp>
        <p:nvSpPr>
          <p:cNvPr id="18" name="Text 16"/>
          <p:cNvSpPr/>
          <p:nvPr/>
        </p:nvSpPr>
        <p:spPr>
          <a:xfrm>
            <a:off x="6393028" y="3520440"/>
            <a:ext cx="457200" cy="365760"/>
          </a:xfrm>
          <a:prstGeom prst="rect">
            <a:avLst/>
          </a:prstGeom>
          <a:noFill/>
          <a:ln/>
        </p:spPr>
        <p:txBody>
          <a:bodyPr wrap="none" lIns="0" tIns="0" rIns="0" bIns="0" rtlCol="0" anchor="ctr" vert="horz">
            <a:normAutofit/>
          </a:bodyPr>
          <a:lstStyle/>
          <a:p>
            <a:pPr algn="l" indent="0" marL="0">
              <a:buNone/>
            </a:pPr>
            <a:r>
              <a:rPr lang="en-US" sz="1400" b="1" dirty="0">
                <a:solidFill>
                  <a:srgbClr val="0A84FF"/>
                </a:solidFill>
                <a:latin typeface="Menlo" pitchFamily="34" charset="0"/>
                <a:ea typeface="Menlo" pitchFamily="34" charset="-122"/>
                <a:cs typeface="Menlo" pitchFamily="34" charset="-120"/>
              </a:rPr>
              <a:t>3</a:t>
            </a:r>
            <a:endParaRPr lang="en-US" sz="1400" dirty="0"/>
          </a:p>
        </p:txBody>
      </p:sp>
      <p:sp>
        <p:nvSpPr>
          <p:cNvPr id="19" name="Text 17"/>
          <p:cNvSpPr/>
          <p:nvPr/>
        </p:nvSpPr>
        <p:spPr>
          <a:xfrm>
            <a:off x="6895948" y="3520440"/>
            <a:ext cx="1664894" cy="365760"/>
          </a:xfrm>
          <a:prstGeom prst="rect">
            <a:avLst/>
          </a:prstGeom>
          <a:noFill/>
          <a:ln/>
        </p:spPr>
        <p:txBody>
          <a:bodyPr wrap="square" lIns="0" tIns="0" rIns="0" bIns="0" rtlCol="0" anchor="ctr"/>
          <a:lstStyle/>
          <a:p>
            <a:pPr indent="0" marL="0">
              <a:buNone/>
            </a:pPr>
            <a:r>
              <a:rPr lang="en-US" sz="1250" b="1" dirty="0">
                <a:solidFill>
                  <a:srgbClr val="111114"/>
                </a:solidFill>
                <a:latin typeface="Helvetica Neue" pitchFamily="34" charset="0"/>
                <a:ea typeface="Helvetica Neue" pitchFamily="34" charset="-122"/>
                <a:cs typeface="Helvetica Neue" pitchFamily="34" charset="-120"/>
              </a:rPr>
              <a:t>Region</a:t>
            </a:r>
            <a:endParaRPr lang="en-US" sz="1250" dirty="0"/>
          </a:p>
        </p:txBody>
      </p:sp>
      <p:sp>
        <p:nvSpPr>
          <p:cNvPr id="20" name="Text 18"/>
          <p:cNvSpPr/>
          <p:nvPr/>
        </p:nvSpPr>
        <p:spPr>
          <a:xfrm>
            <a:off x="6393028" y="3977640"/>
            <a:ext cx="2122094" cy="914400"/>
          </a:xfrm>
          <a:prstGeom prst="rect">
            <a:avLst/>
          </a:prstGeom>
          <a:noFill/>
          <a:ln/>
        </p:spPr>
        <p:txBody>
          <a:bodyPr wrap="square" lIns="0" tIns="0" rIns="0" bIns="0" rtlCol="0" anchor="t"/>
          <a:lstStyle/>
          <a:p>
            <a:pPr indent="0" marL="0">
              <a:lnSpc>
                <a:spcPct val="120000"/>
              </a:lnSpc>
              <a:buNone/>
            </a:pPr>
            <a:r>
              <a:rPr lang="en-US" sz="1050" dirty="0">
                <a:solidFill>
                  <a:srgbClr val="3A3A3F"/>
                </a:solidFill>
                <a:latin typeface="Helvetica Neue" pitchFamily="34" charset="0"/>
                <a:ea typeface="Helvetica Neue" pitchFamily="34" charset="-122"/>
                <a:cs typeface="Helvetica Neue" pitchFamily="34" charset="-120"/>
              </a:rPr>
              <a:t>NA / EU / JP … · untagged always kept</a:t>
            </a:r>
            <a:endParaRPr lang="en-US" sz="1050" dirty="0"/>
          </a:p>
        </p:txBody>
      </p:sp>
      <p:sp>
        <p:nvSpPr>
          <p:cNvPr id="21" name="Text 19"/>
          <p:cNvSpPr/>
          <p:nvPr/>
        </p:nvSpPr>
        <p:spPr>
          <a:xfrm>
            <a:off x="8698001" y="3383280"/>
            <a:ext cx="228600" cy="1554480"/>
          </a:xfrm>
          <a:prstGeom prst="rect">
            <a:avLst/>
          </a:prstGeom>
          <a:noFill/>
          <a:ln/>
        </p:spPr>
        <p:txBody>
          <a:bodyPr wrap="square" lIns="0" tIns="0" rIns="0" bIns="0" rtlCol="0" anchor="ctr"/>
          <a:lstStyle/>
          <a:p>
            <a:pPr algn="ctr" indent="0" marL="0">
              <a:buNone/>
            </a:pPr>
            <a:r>
              <a:rPr lang="en-US" sz="1400" dirty="0">
                <a:solidFill>
                  <a:srgbClr val="7A7A80"/>
                </a:solidFill>
                <a:latin typeface="Helvetica Neue" pitchFamily="34" charset="0"/>
                <a:ea typeface="Helvetica Neue" pitchFamily="34" charset="-122"/>
                <a:cs typeface="Helvetica Neue" pitchFamily="34" charset="-120"/>
              </a:rPr>
              <a:t>→</a:t>
            </a:r>
            <a:endParaRPr lang="en-US" sz="1400" dirty="0"/>
          </a:p>
        </p:txBody>
      </p:sp>
      <p:sp>
        <p:nvSpPr>
          <p:cNvPr id="22" name="Shape 20"/>
          <p:cNvSpPr/>
          <p:nvPr/>
        </p:nvSpPr>
        <p:spPr>
          <a:xfrm>
            <a:off x="8926601" y="3383280"/>
            <a:ext cx="2487854" cy="1554480"/>
          </a:xfrm>
          <a:prstGeom prst="roundRect">
            <a:avLst>
              <a:gd name="adj" fmla="val 3529"/>
            </a:avLst>
          </a:prstGeom>
          <a:solidFill>
            <a:srgbClr val="F7F7F5"/>
          </a:solidFill>
          <a:ln w="6350">
            <a:solidFill>
              <a:srgbClr val="D9D9D6"/>
            </a:solidFill>
            <a:prstDash val="solid"/>
          </a:ln>
        </p:spPr>
      </p:sp>
      <p:sp>
        <p:nvSpPr>
          <p:cNvPr id="23" name="Text 21"/>
          <p:cNvSpPr/>
          <p:nvPr/>
        </p:nvSpPr>
        <p:spPr>
          <a:xfrm>
            <a:off x="9109481" y="3520440"/>
            <a:ext cx="457200" cy="365760"/>
          </a:xfrm>
          <a:prstGeom prst="rect">
            <a:avLst/>
          </a:prstGeom>
          <a:noFill/>
          <a:ln/>
        </p:spPr>
        <p:txBody>
          <a:bodyPr wrap="none" lIns="0" tIns="0" rIns="0" bIns="0" rtlCol="0" anchor="ctr" vert="horz">
            <a:normAutofit/>
          </a:bodyPr>
          <a:lstStyle/>
          <a:p>
            <a:pPr algn="l" indent="0" marL="0">
              <a:buNone/>
            </a:pPr>
            <a:r>
              <a:rPr lang="en-US" sz="1400" b="1" dirty="0">
                <a:solidFill>
                  <a:srgbClr val="0A84FF"/>
                </a:solidFill>
                <a:latin typeface="Menlo" pitchFamily="34" charset="0"/>
                <a:ea typeface="Menlo" pitchFamily="34" charset="-122"/>
                <a:cs typeface="Menlo" pitchFamily="34" charset="-120"/>
              </a:rPr>
              <a:t>4</a:t>
            </a:r>
            <a:endParaRPr lang="en-US" sz="1400" dirty="0"/>
          </a:p>
        </p:txBody>
      </p:sp>
      <p:sp>
        <p:nvSpPr>
          <p:cNvPr id="24" name="Text 22"/>
          <p:cNvSpPr/>
          <p:nvPr/>
        </p:nvSpPr>
        <p:spPr>
          <a:xfrm>
            <a:off x="9612401" y="3520440"/>
            <a:ext cx="1664894" cy="365760"/>
          </a:xfrm>
          <a:prstGeom prst="rect">
            <a:avLst/>
          </a:prstGeom>
          <a:noFill/>
          <a:ln/>
        </p:spPr>
        <p:txBody>
          <a:bodyPr wrap="square" lIns="0" tIns="0" rIns="0" bIns="0" rtlCol="0" anchor="ctr"/>
          <a:lstStyle/>
          <a:p>
            <a:pPr indent="0" marL="0">
              <a:buNone/>
            </a:pPr>
            <a:r>
              <a:rPr lang="en-US" sz="1250" b="1" dirty="0">
                <a:solidFill>
                  <a:srgbClr val="111114"/>
                </a:solidFill>
                <a:latin typeface="Helvetica Neue" pitchFamily="34" charset="0"/>
                <a:ea typeface="Helvetica Neue" pitchFamily="34" charset="-122"/>
                <a:cs typeface="Helvetica Neue" pitchFamily="34" charset="-120"/>
              </a:rPr>
              <a:t>Free text</a:t>
            </a:r>
            <a:endParaRPr lang="en-US" sz="1250" dirty="0"/>
          </a:p>
        </p:txBody>
      </p:sp>
      <p:sp>
        <p:nvSpPr>
          <p:cNvPr id="25" name="Text 23"/>
          <p:cNvSpPr/>
          <p:nvPr/>
        </p:nvSpPr>
        <p:spPr>
          <a:xfrm>
            <a:off x="9109481" y="3977640"/>
            <a:ext cx="2122094" cy="914400"/>
          </a:xfrm>
          <a:prstGeom prst="rect">
            <a:avLst/>
          </a:prstGeom>
          <a:noFill/>
          <a:ln/>
        </p:spPr>
        <p:txBody>
          <a:bodyPr wrap="square" lIns="0" tIns="0" rIns="0" bIns="0" rtlCol="0" anchor="t"/>
          <a:lstStyle/>
          <a:p>
            <a:pPr indent="0" marL="0">
              <a:lnSpc>
                <a:spcPct val="120000"/>
              </a:lnSpc>
              <a:buNone/>
            </a:pPr>
            <a:r>
              <a:rPr lang="en-US" sz="1050" dirty="0">
                <a:solidFill>
                  <a:srgbClr val="3A3A3F"/>
                </a:solidFill>
                <a:latin typeface="Helvetica Neue" pitchFamily="34" charset="0"/>
                <a:ea typeface="Helvetica Neue" pitchFamily="34" charset="-122"/>
                <a:cs typeface="Helvetica Neue" pitchFamily="34" charset="-120"/>
              </a:rPr>
              <a:t>EN + 中文, debounced 250 ms</a:t>
            </a:r>
            <a:endParaRPr lang="en-US" sz="1050" dirty="0"/>
          </a:p>
        </p:txBody>
      </p:sp>
      <p:sp>
        <p:nvSpPr>
          <p:cNvPr id="26" name="Text 24"/>
          <p:cNvSpPr/>
          <p:nvPr/>
        </p:nvSpPr>
        <p:spPr>
          <a:xfrm>
            <a:off x="777240" y="5303520"/>
            <a:ext cx="10637215" cy="1463040"/>
          </a:xfrm>
          <a:prstGeom prst="rect">
            <a:avLst/>
          </a:prstGeom>
          <a:noFill/>
          <a:ln/>
        </p:spPr>
        <p:txBody>
          <a:bodyPr wrap="square" lIns="0" tIns="0" rIns="0" bIns="0" rtlCol="0" anchor="t"/>
          <a:lstStyle/>
          <a:p>
            <a:pPr indent="0" marL="0">
              <a:lnSpc>
                <a:spcPct val="125000"/>
              </a:lnSpc>
              <a:buNone/>
            </a:pPr>
            <a:r>
              <a:rPr lang="en-US" sz="1250" dirty="0">
                <a:solidFill>
                  <a:srgbClr val="3A3A3F"/>
                </a:solidFill>
                <a:latin typeface="Helvetica Neue" pitchFamily="34" charset="0"/>
                <a:ea typeface="Helvetica Neue" pitchFamily="34" charset="-122"/>
                <a:cs typeface="Helvetica Neue" pitchFamily="34" charset="-120"/>
              </a:rPr>
              <a:t>One match → auto-fills the field. Multiple matches → a dropdown to pick from, with a part-picture preview at the bottom of the card.</a:t>
            </a:r>
            <a:endParaRPr lang="en-US" sz="1250" dirty="0"/>
          </a:p>
        </p:txBody>
      </p:sp>
      <p:sp>
        <p:nvSpPr>
          <p:cNvPr id="27" name="Text 25"/>
          <p:cNvSpPr/>
          <p:nvPr/>
        </p:nvSpPr>
        <p:spPr>
          <a:xfrm>
            <a:off x="777240" y="6144768"/>
            <a:ext cx="10637215"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SkuLookupCard.tsx · utils/skuData.ts — 11.8k parts, region-bucketed.</a:t>
            </a:r>
            <a:endParaRPr lang="en-US" sz="1000" dirty="0"/>
          </a:p>
        </p:txBody>
      </p:sp>
      <p:sp>
        <p:nvSpPr>
          <p:cNvPr id="28" name="Text 26"/>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QUALITY OF LIFE · 01</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Quick replies — a radial dial of email templates.</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5852160" cy="1463040"/>
          </a:xfrm>
          <a:prstGeom prst="rect">
            <a:avLst/>
          </a:prstGeom>
          <a:noFill/>
          <a:ln/>
        </p:spPr>
        <p:txBody>
          <a:bodyPr wrap="square" lIns="0" tIns="0" rIns="0" bIns="0" rtlCol="0" anchor="t"/>
          <a:lstStyle/>
          <a:p>
            <a:pPr indent="0" marL="0">
              <a:lnSpc>
                <a:spcPct val="125000"/>
              </a:lnSpc>
              <a:buNone/>
            </a:pPr>
            <a:r>
              <a:rPr lang="en-US" sz="1300" dirty="0">
                <a:solidFill>
                  <a:srgbClr val="3A3A3F"/>
                </a:solidFill>
                <a:latin typeface="Helvetica Neue" pitchFamily="34" charset="0"/>
                <a:ea typeface="Helvetica Neue" pitchFamily="34" charset="-122"/>
                <a:cs typeface="Helvetica Neue" pitchFamily="34" charset="-120"/>
              </a:rPr>
              <a:t>Hover the bottom-bar button and HTML email templates fan out onto a frosted radial disc, smart-grouped by intent. Click to copy; hover a card 2.5s to preview the rendered HTML.</a:t>
            </a:r>
            <a:endParaRPr lang="en-US" sz="1300" dirty="0"/>
          </a:p>
        </p:txBody>
      </p:sp>
      <p:sp>
        <p:nvSpPr>
          <p:cNvPr id="7" name="Text 5"/>
          <p:cNvSpPr/>
          <p:nvPr/>
        </p:nvSpPr>
        <p:spPr>
          <a:xfrm>
            <a:off x="777240" y="3931920"/>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Loaded from /quick_reply/*.html via import.meta.glob.</a:t>
            </a:r>
            <a:endParaRPr lang="en-US" sz="1250" dirty="0"/>
          </a:p>
        </p:txBody>
      </p:sp>
      <p:sp>
        <p:nvSpPr>
          <p:cNvPr id="8" name="Text 6"/>
          <p:cNvSpPr/>
          <p:nvPr/>
        </p:nvSpPr>
        <p:spPr>
          <a:xfrm>
            <a:off x="777240" y="4224528"/>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Groups: Closing Ticket, Must Return, Collect Info…</a:t>
            </a:r>
            <a:endParaRPr lang="en-US" sz="1250" dirty="0"/>
          </a:p>
        </p:txBody>
      </p:sp>
      <p:sp>
        <p:nvSpPr>
          <p:cNvPr id="9" name="Text 7"/>
          <p:cNvSpPr/>
          <p:nvPr/>
        </p:nvSpPr>
        <p:spPr>
          <a:xfrm>
            <a:off x="777240" y="4517136"/>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Click-to-copy into Salesforce's rich-text editor.</a:t>
            </a:r>
            <a:endParaRPr lang="en-US" sz="1250" dirty="0"/>
          </a:p>
        </p:txBody>
      </p:sp>
      <p:sp>
        <p:nvSpPr>
          <p:cNvPr id="10" name="Text 8"/>
          <p:cNvSpPr/>
          <p:nvPr/>
        </p:nvSpPr>
        <p:spPr>
          <a:xfrm>
            <a:off x="777240" y="4809744"/>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Centered portal preview auto-dismisses.</a:t>
            </a:r>
            <a:endParaRPr lang="en-US" sz="1250" dirty="0"/>
          </a:p>
        </p:txBody>
      </p:sp>
      <p:pic>
        <p:nvPicPr>
          <p:cNvPr id="11" name="Image 0" descr="/Users/susul/Dev/econote/note-master/ppt-build/assets/fit/fit_04_quick_replies.png">    </p:cNvPr>
          <p:cNvPicPr>
            <a:picLocks noChangeAspect="1"/>
          </p:cNvPicPr>
          <p:nvPr/>
        </p:nvPicPr>
        <p:blipFill>
          <a:blip r:embed="rId1"/>
          <a:stretch>
            <a:fillRect/>
          </a:stretch>
        </p:blipFill>
        <p:spPr>
          <a:xfrm>
            <a:off x="6400800" y="2468880"/>
            <a:ext cx="5120640" cy="3792474"/>
          </a:xfrm>
          <a:prstGeom prst="rect">
            <a:avLst/>
          </a:prstGeom>
        </p:spPr>
      </p:pic>
      <p:sp>
        <p:nvSpPr>
          <p:cNvPr id="12" name="Shape 9"/>
          <p:cNvSpPr/>
          <p:nvPr/>
        </p:nvSpPr>
        <p:spPr>
          <a:xfrm>
            <a:off x="6400800" y="2468880"/>
            <a:ext cx="5120640" cy="3792474"/>
          </a:xfrm>
          <a:prstGeom prst="rect">
            <a:avLst/>
          </a:prstGeom>
          <a:ln w="6350">
            <a:solidFill>
              <a:srgbClr val="D9D9D6"/>
            </a:solidFill>
            <a:prstDash val="solid"/>
          </a:ln>
        </p:spPr>
      </p:sp>
      <p:sp>
        <p:nvSpPr>
          <p:cNvPr id="13" name="Text 10"/>
          <p:cNvSpPr/>
          <p:nvPr/>
        </p:nvSpPr>
        <p:spPr>
          <a:xfrm>
            <a:off x="6400800" y="6144768"/>
            <a:ext cx="5120640"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Quick Replies expanded — categorized reply templates.</a:t>
            </a:r>
            <a:endParaRPr lang="en-US" sz="1000" dirty="0"/>
          </a:p>
        </p:txBody>
      </p:sp>
      <p:sp>
        <p:nvSpPr>
          <p:cNvPr id="14" name="Text 11"/>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QUALITY OF LIFE · 02</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Phonetic alphabet, inline in the email field.</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5852160" cy="1463040"/>
          </a:xfrm>
          <a:prstGeom prst="rect">
            <a:avLst/>
          </a:prstGeom>
          <a:noFill/>
          <a:ln/>
        </p:spPr>
        <p:txBody>
          <a:bodyPr wrap="square" lIns="0" tIns="0" rIns="0" bIns="0" rtlCol="0" anchor="t"/>
          <a:lstStyle/>
          <a:p>
            <a:pPr indent="0" marL="0">
              <a:lnSpc>
                <a:spcPct val="125000"/>
              </a:lnSpc>
              <a:buNone/>
            </a:pPr>
            <a:r>
              <a:rPr lang="en-US" sz="1300" dirty="0">
                <a:solidFill>
                  <a:srgbClr val="3A3A3F"/>
                </a:solidFill>
                <a:latin typeface="Helvetica Neue" pitchFamily="34" charset="0"/>
                <a:ea typeface="Helvetica Neue" pitchFamily="34" charset="-122"/>
                <a:cs typeface="Helvetica Neue" pitchFamily="34" charset="-120"/>
              </a:rPr>
              <a:t>A tiny “Az” toggle on the Email Address gridbox expands the node downwards to reveal the NATO alphabet plus specials (dot, hyphen, at-sign, underscore). Inline — never covers neighbouring fields — and one click copies the whole reference.</a:t>
            </a:r>
            <a:endParaRPr lang="en-US" sz="1300" dirty="0"/>
          </a:p>
        </p:txBody>
      </p:sp>
      <p:sp>
        <p:nvSpPr>
          <p:cNvPr id="7" name="Text 5"/>
          <p:cNvSpPr/>
          <p:nvPr/>
        </p:nvSpPr>
        <p:spPr>
          <a:xfrm>
            <a:off x="777240" y="3931920"/>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A = Alpha … Z = Zulu, always at hand.</a:t>
            </a:r>
            <a:endParaRPr lang="en-US" sz="1250" dirty="0"/>
          </a:p>
        </p:txBody>
      </p:sp>
      <p:sp>
        <p:nvSpPr>
          <p:cNvPr id="8" name="Text 6"/>
          <p:cNvSpPr/>
          <p:nvPr/>
        </p:nvSpPr>
        <p:spPr>
          <a:xfrm>
            <a:off x="777240" y="4224528"/>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Specials for email-safe characters.</a:t>
            </a:r>
            <a:endParaRPr lang="en-US" sz="1250" dirty="0"/>
          </a:p>
        </p:txBody>
      </p:sp>
      <p:sp>
        <p:nvSpPr>
          <p:cNvPr id="9" name="Text 7"/>
          <p:cNvSpPr/>
          <p:nvPr/>
        </p:nvSpPr>
        <p:spPr>
          <a:xfrm>
            <a:off x="777240" y="4517136"/>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Copy-to-clipboard for the full table.</a:t>
            </a:r>
            <a:endParaRPr lang="en-US" sz="1250" dirty="0"/>
          </a:p>
        </p:txBody>
      </p:sp>
      <p:sp>
        <p:nvSpPr>
          <p:cNvPr id="10" name="Text 8"/>
          <p:cNvSpPr/>
          <p:nvPr/>
        </p:nvSpPr>
        <p:spPr>
          <a:xfrm>
            <a:off x="777240" y="4809744"/>
            <a:ext cx="5852160" cy="457200"/>
          </a:xfrm>
          <a:prstGeom prst="rect">
            <a:avLst/>
          </a:prstGeom>
          <a:noFill/>
          <a:ln/>
        </p:spPr>
        <p:txBody>
          <a:bodyPr wrap="square" lIns="0" tIns="0" rIns="0" bIns="0" rtlCol="0" anchor="t"/>
          <a:lstStyle/>
          <a:p>
            <a:pPr indent="0" marL="0">
              <a:lnSpc>
                <a:spcPct val="120000"/>
              </a:lnSpc>
              <a:buNone/>
            </a:pPr>
            <a:r>
              <a:rPr lang="en-US" sz="1250" dirty="0">
                <a:solidFill>
                  <a:srgbClr val="3A3A3F"/>
                </a:solidFill>
                <a:latin typeface="Helvetica Neue" pitchFamily="34" charset="0"/>
                <a:ea typeface="Helvetica Neue" pitchFamily="34" charset="-122"/>
                <a:cs typeface="Helvetica Neue" pitchFamily="34" charset="-120"/>
              </a:rPr>
              <a:t>Frosted inset, matches gridbox chrome.</a:t>
            </a:r>
            <a:endParaRPr lang="en-US" sz="1250" dirty="0"/>
          </a:p>
        </p:txBody>
      </p:sp>
      <p:pic>
        <p:nvPicPr>
          <p:cNvPr id="11" name="Image 0" descr="/Users/susul/Dev/econote/note-master/ppt-build/assets/fit/fit_05_phonetic_alphabet.png">    </p:cNvPr>
          <p:cNvPicPr>
            <a:picLocks noChangeAspect="1"/>
          </p:cNvPicPr>
          <p:nvPr/>
        </p:nvPicPr>
        <p:blipFill>
          <a:blip r:embed="rId1"/>
          <a:stretch>
            <a:fillRect/>
          </a:stretch>
        </p:blipFill>
        <p:spPr>
          <a:xfrm>
            <a:off x="6400800" y="2468880"/>
            <a:ext cx="5120640" cy="3792474"/>
          </a:xfrm>
          <a:prstGeom prst="rect">
            <a:avLst/>
          </a:prstGeom>
        </p:spPr>
      </p:pic>
      <p:sp>
        <p:nvSpPr>
          <p:cNvPr id="12" name="Shape 9"/>
          <p:cNvSpPr/>
          <p:nvPr/>
        </p:nvSpPr>
        <p:spPr>
          <a:xfrm>
            <a:off x="6400800" y="2468880"/>
            <a:ext cx="5120640" cy="3792474"/>
          </a:xfrm>
          <a:prstGeom prst="rect">
            <a:avLst/>
          </a:prstGeom>
          <a:ln w="6350">
            <a:solidFill>
              <a:srgbClr val="D9D9D6"/>
            </a:solidFill>
            <a:prstDash val="solid"/>
          </a:ln>
        </p:spPr>
      </p:sp>
      <p:sp>
        <p:nvSpPr>
          <p:cNvPr id="13" name="Text 10"/>
          <p:cNvSpPr/>
          <p:nvPr/>
        </p:nvSpPr>
        <p:spPr>
          <a:xfrm>
            <a:off x="6400800" y="6144768"/>
            <a:ext cx="5120640"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Phonetic alphabet expanded inline under the Email field.</a:t>
            </a:r>
            <a:endParaRPr lang="en-US" sz="1000" dirty="0"/>
          </a:p>
        </p:txBody>
      </p:sp>
      <p:sp>
        <p:nvSpPr>
          <p:cNvPr id="14" name="Text 11"/>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QUALITY OF LIFE · 03</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A cat that watches the call with you.</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10637215" cy="1463040"/>
          </a:xfrm>
          <a:prstGeom prst="rect">
            <a:avLst/>
          </a:prstGeom>
          <a:noFill/>
          <a:ln/>
        </p:spPr>
        <p:txBody>
          <a:bodyPr wrap="square" lIns="0" tIns="0" rIns="0" bIns="0" rtlCol="0" anchor="t"/>
          <a:lstStyle/>
          <a:p>
            <a:pPr indent="0" marL="0">
              <a:lnSpc>
                <a:spcPct val="125000"/>
              </a:lnSpc>
              <a:buNone/>
            </a:pPr>
            <a:r>
              <a:rPr lang="en-US" sz="1350" dirty="0">
                <a:solidFill>
                  <a:srgbClr val="3A3A3F"/>
                </a:solidFill>
                <a:latin typeface="Helvetica Neue" pitchFamily="34" charset="0"/>
                <a:ea typeface="Helvetica Neue" pitchFamily="34" charset="-122"/>
                <a:cs typeface="Helvetica Neue" pitchFamily="34" charset="-120"/>
              </a:rPr>
              <a:t>A draggable pixel-art sprite (128px, six states × three frames each) lives on the canvas and pops thought bubbles. It is a Clippy-style nudge layer — never steals focus, auto-dismisses, and dozes off after 20s of inactivity.</a:t>
            </a:r>
            <a:endParaRPr lang="en-US" sz="1350" dirty="0"/>
          </a:p>
        </p:txBody>
      </p:sp>
      <p:sp>
        <p:nvSpPr>
          <p:cNvPr id="7" name="Shape 5"/>
          <p:cNvSpPr/>
          <p:nvPr/>
        </p:nvSpPr>
        <p:spPr>
          <a:xfrm>
            <a:off x="777240" y="3657600"/>
            <a:ext cx="3362858" cy="914400"/>
          </a:xfrm>
          <a:prstGeom prst="roundRect">
            <a:avLst>
              <a:gd name="adj" fmla="val 6000"/>
            </a:avLst>
          </a:prstGeom>
          <a:solidFill>
            <a:srgbClr val="F7F7F5"/>
          </a:solidFill>
          <a:ln w="6350">
            <a:solidFill>
              <a:srgbClr val="D9D9D6"/>
            </a:solidFill>
            <a:prstDash val="solid"/>
          </a:ln>
        </p:spPr>
      </p:sp>
      <p:sp>
        <p:nvSpPr>
          <p:cNvPr id="8" name="Text 6"/>
          <p:cNvSpPr/>
          <p:nvPr/>
        </p:nvSpPr>
        <p:spPr>
          <a:xfrm>
            <a:off x="960120" y="3767328"/>
            <a:ext cx="2997098" cy="320040"/>
          </a:xfrm>
          <a:prstGeom prst="rect">
            <a:avLst/>
          </a:prstGeom>
          <a:noFill/>
          <a:ln/>
        </p:spPr>
        <p:txBody>
          <a:bodyPr wrap="none" lIns="0" tIns="0" rIns="0" bIns="0" rtlCol="0" anchor="ctr" vert="horz">
            <a:normAutofit/>
          </a:bodyPr>
          <a:lstStyle/>
          <a:p>
            <a:pPr algn="l" indent="0" marL="0">
              <a:buNone/>
            </a:pPr>
            <a:r>
              <a:rPr lang="en-US" sz="1100" b="1" dirty="0">
                <a:solidFill>
                  <a:srgbClr val="0A84FF"/>
                </a:solidFill>
                <a:latin typeface="Menlo" pitchFamily="34" charset="0"/>
                <a:ea typeface="Menlo" pitchFamily="34" charset="-122"/>
                <a:cs typeface="Menlo" pitchFamily="34" charset="-120"/>
              </a:rPr>
              <a:t>resting</a:t>
            </a:r>
            <a:endParaRPr lang="en-US" sz="1100" dirty="0"/>
          </a:p>
        </p:txBody>
      </p:sp>
      <p:sp>
        <p:nvSpPr>
          <p:cNvPr id="9" name="Text 7"/>
          <p:cNvSpPr/>
          <p:nvPr/>
        </p:nvSpPr>
        <p:spPr>
          <a:xfrm>
            <a:off x="960120" y="4114800"/>
            <a:ext cx="2997098" cy="365760"/>
          </a:xfrm>
          <a:prstGeom prst="rect">
            <a:avLst/>
          </a:prstGeom>
          <a:noFill/>
          <a:ln/>
        </p:spPr>
        <p:txBody>
          <a:bodyPr wrap="square" lIns="0" tIns="0" rIns="0" bIns="0" rtlCol="0" anchor="t"/>
          <a:lstStyle/>
          <a:p>
            <a:pPr indent="0" marL="0">
              <a:buNone/>
            </a:pPr>
            <a:r>
              <a:rPr lang="en-US" sz="1050" dirty="0">
                <a:solidFill>
                  <a:srgbClr val="3A3A3F"/>
                </a:solidFill>
                <a:latin typeface="Helvetica Neue" pitchFamily="34" charset="0"/>
                <a:ea typeface="Helvetica Neue" pitchFamily="34" charset="-122"/>
                <a:cs typeface="Helvetica Neue" pitchFamily="34" charset="-120"/>
              </a:rPr>
              <a:t>dozed off after 20s idle</a:t>
            </a:r>
            <a:endParaRPr lang="en-US" sz="1050" dirty="0"/>
          </a:p>
        </p:txBody>
      </p:sp>
      <p:sp>
        <p:nvSpPr>
          <p:cNvPr id="10" name="Shape 8"/>
          <p:cNvSpPr/>
          <p:nvPr/>
        </p:nvSpPr>
        <p:spPr>
          <a:xfrm>
            <a:off x="4414418" y="3657600"/>
            <a:ext cx="3362858" cy="914400"/>
          </a:xfrm>
          <a:prstGeom prst="roundRect">
            <a:avLst>
              <a:gd name="adj" fmla="val 6000"/>
            </a:avLst>
          </a:prstGeom>
          <a:solidFill>
            <a:srgbClr val="F7F7F5"/>
          </a:solidFill>
          <a:ln w="6350">
            <a:solidFill>
              <a:srgbClr val="D9D9D6"/>
            </a:solidFill>
            <a:prstDash val="solid"/>
          </a:ln>
        </p:spPr>
      </p:sp>
      <p:sp>
        <p:nvSpPr>
          <p:cNvPr id="11" name="Text 9"/>
          <p:cNvSpPr/>
          <p:nvPr/>
        </p:nvSpPr>
        <p:spPr>
          <a:xfrm>
            <a:off x="4597298" y="3767328"/>
            <a:ext cx="2997098" cy="320040"/>
          </a:xfrm>
          <a:prstGeom prst="rect">
            <a:avLst/>
          </a:prstGeom>
          <a:noFill/>
          <a:ln/>
        </p:spPr>
        <p:txBody>
          <a:bodyPr wrap="none" lIns="0" tIns="0" rIns="0" bIns="0" rtlCol="0" anchor="ctr" vert="horz">
            <a:normAutofit/>
          </a:bodyPr>
          <a:lstStyle/>
          <a:p>
            <a:pPr algn="l" indent="0" marL="0">
              <a:buNone/>
            </a:pPr>
            <a:r>
              <a:rPr lang="en-US" sz="1100" b="1" dirty="0">
                <a:solidFill>
                  <a:srgbClr val="0A84FF"/>
                </a:solidFill>
                <a:latin typeface="Menlo" pitchFamily="34" charset="0"/>
                <a:ea typeface="Menlo" pitchFamily="34" charset="-122"/>
                <a:cs typeface="Menlo" pitchFamily="34" charset="-120"/>
              </a:rPr>
              <a:t>standby</a:t>
            </a:r>
            <a:endParaRPr lang="en-US" sz="1100" dirty="0"/>
          </a:p>
        </p:txBody>
      </p:sp>
      <p:sp>
        <p:nvSpPr>
          <p:cNvPr id="12" name="Text 10"/>
          <p:cNvSpPr/>
          <p:nvPr/>
        </p:nvSpPr>
        <p:spPr>
          <a:xfrm>
            <a:off x="4597298" y="4114800"/>
            <a:ext cx="2997098" cy="365760"/>
          </a:xfrm>
          <a:prstGeom prst="rect">
            <a:avLst/>
          </a:prstGeom>
          <a:noFill/>
          <a:ln/>
        </p:spPr>
        <p:txBody>
          <a:bodyPr wrap="square" lIns="0" tIns="0" rIns="0" bIns="0" rtlCol="0" anchor="t"/>
          <a:lstStyle/>
          <a:p>
            <a:pPr indent="0" marL="0">
              <a:buNone/>
            </a:pPr>
            <a:r>
              <a:rPr lang="en-US" sz="1050" dirty="0">
                <a:solidFill>
                  <a:srgbClr val="3A3A3F"/>
                </a:solidFill>
                <a:latin typeface="Helvetica Neue" pitchFamily="34" charset="0"/>
                <a:ea typeface="Helvetica Neue" pitchFamily="34" charset="-122"/>
                <a:cs typeface="Helvetica Neue" pitchFamily="34" charset="-120"/>
              </a:rPr>
              <a:t>calm default, sitting</a:t>
            </a:r>
            <a:endParaRPr lang="en-US" sz="1050" dirty="0"/>
          </a:p>
        </p:txBody>
      </p:sp>
      <p:sp>
        <p:nvSpPr>
          <p:cNvPr id="13" name="Shape 11"/>
          <p:cNvSpPr/>
          <p:nvPr/>
        </p:nvSpPr>
        <p:spPr>
          <a:xfrm>
            <a:off x="8051597" y="3657600"/>
            <a:ext cx="3362858" cy="914400"/>
          </a:xfrm>
          <a:prstGeom prst="roundRect">
            <a:avLst>
              <a:gd name="adj" fmla="val 6000"/>
            </a:avLst>
          </a:prstGeom>
          <a:solidFill>
            <a:srgbClr val="F7F7F5"/>
          </a:solidFill>
          <a:ln w="6350">
            <a:solidFill>
              <a:srgbClr val="D9D9D6"/>
            </a:solidFill>
            <a:prstDash val="solid"/>
          </a:ln>
        </p:spPr>
      </p:sp>
      <p:sp>
        <p:nvSpPr>
          <p:cNvPr id="14" name="Text 12"/>
          <p:cNvSpPr/>
          <p:nvPr/>
        </p:nvSpPr>
        <p:spPr>
          <a:xfrm>
            <a:off x="8234477" y="3767328"/>
            <a:ext cx="2997098" cy="320040"/>
          </a:xfrm>
          <a:prstGeom prst="rect">
            <a:avLst/>
          </a:prstGeom>
          <a:noFill/>
          <a:ln/>
        </p:spPr>
        <p:txBody>
          <a:bodyPr wrap="none" lIns="0" tIns="0" rIns="0" bIns="0" rtlCol="0" anchor="ctr" vert="horz">
            <a:normAutofit/>
          </a:bodyPr>
          <a:lstStyle/>
          <a:p>
            <a:pPr algn="l" indent="0" marL="0">
              <a:buNone/>
            </a:pPr>
            <a:r>
              <a:rPr lang="en-US" sz="1100" b="1" dirty="0">
                <a:solidFill>
                  <a:srgbClr val="0A84FF"/>
                </a:solidFill>
                <a:latin typeface="Menlo" pitchFamily="34" charset="0"/>
                <a:ea typeface="Menlo" pitchFamily="34" charset="-122"/>
                <a:cs typeface="Menlo" pitchFamily="34" charset="-120"/>
              </a:rPr>
              <a:t>side</a:t>
            </a:r>
            <a:endParaRPr lang="en-US" sz="1100" dirty="0"/>
          </a:p>
        </p:txBody>
      </p:sp>
      <p:sp>
        <p:nvSpPr>
          <p:cNvPr id="15" name="Text 13"/>
          <p:cNvSpPr/>
          <p:nvPr/>
        </p:nvSpPr>
        <p:spPr>
          <a:xfrm>
            <a:off x="8234477" y="4114800"/>
            <a:ext cx="2997098" cy="365760"/>
          </a:xfrm>
          <a:prstGeom prst="rect">
            <a:avLst/>
          </a:prstGeom>
          <a:noFill/>
          <a:ln/>
        </p:spPr>
        <p:txBody>
          <a:bodyPr wrap="square" lIns="0" tIns="0" rIns="0" bIns="0" rtlCol="0" anchor="t"/>
          <a:lstStyle/>
          <a:p>
            <a:pPr indent="0" marL="0">
              <a:buNone/>
            </a:pPr>
            <a:r>
              <a:rPr lang="en-US" sz="1050" dirty="0">
                <a:solidFill>
                  <a:srgbClr val="3A3A3F"/>
                </a:solidFill>
                <a:latin typeface="Helvetica Neue" pitchFamily="34" charset="0"/>
                <a:ea typeface="Helvetica Neue" pitchFamily="34" charset="-122"/>
                <a:cs typeface="Helvetica Neue" pitchFamily="34" charset="-120"/>
              </a:rPr>
              <a:t>glancing at a thought bubble</a:t>
            </a:r>
            <a:endParaRPr lang="en-US" sz="1050" dirty="0"/>
          </a:p>
        </p:txBody>
      </p:sp>
      <p:sp>
        <p:nvSpPr>
          <p:cNvPr id="16" name="Shape 14"/>
          <p:cNvSpPr/>
          <p:nvPr/>
        </p:nvSpPr>
        <p:spPr>
          <a:xfrm>
            <a:off x="777240" y="4754880"/>
            <a:ext cx="3362858" cy="914400"/>
          </a:xfrm>
          <a:prstGeom prst="roundRect">
            <a:avLst>
              <a:gd name="adj" fmla="val 6000"/>
            </a:avLst>
          </a:prstGeom>
          <a:solidFill>
            <a:srgbClr val="F7F7F5"/>
          </a:solidFill>
          <a:ln w="6350">
            <a:solidFill>
              <a:srgbClr val="D9D9D6"/>
            </a:solidFill>
            <a:prstDash val="solid"/>
          </a:ln>
        </p:spPr>
      </p:sp>
      <p:sp>
        <p:nvSpPr>
          <p:cNvPr id="17" name="Text 15"/>
          <p:cNvSpPr/>
          <p:nvPr/>
        </p:nvSpPr>
        <p:spPr>
          <a:xfrm>
            <a:off x="960120" y="4864608"/>
            <a:ext cx="2997098" cy="320040"/>
          </a:xfrm>
          <a:prstGeom prst="rect">
            <a:avLst/>
          </a:prstGeom>
          <a:noFill/>
          <a:ln/>
        </p:spPr>
        <p:txBody>
          <a:bodyPr wrap="none" lIns="0" tIns="0" rIns="0" bIns="0" rtlCol="0" anchor="ctr" vert="horz">
            <a:normAutofit/>
          </a:bodyPr>
          <a:lstStyle/>
          <a:p>
            <a:pPr algn="l" indent="0" marL="0">
              <a:buNone/>
            </a:pPr>
            <a:r>
              <a:rPr lang="en-US" sz="1100" b="1" dirty="0">
                <a:solidFill>
                  <a:srgbClr val="0A84FF"/>
                </a:solidFill>
                <a:latin typeface="Menlo" pitchFamily="34" charset="0"/>
                <a:ea typeface="Menlo" pitchFamily="34" charset="-122"/>
                <a:cs typeface="Menlo" pitchFamily="34" charset="-120"/>
              </a:rPr>
              <a:t>thinking</a:t>
            </a:r>
            <a:endParaRPr lang="en-US" sz="1100" dirty="0"/>
          </a:p>
        </p:txBody>
      </p:sp>
      <p:sp>
        <p:nvSpPr>
          <p:cNvPr id="18" name="Text 16"/>
          <p:cNvSpPr/>
          <p:nvPr/>
        </p:nvSpPr>
        <p:spPr>
          <a:xfrm>
            <a:off x="960120" y="5212080"/>
            <a:ext cx="2997098" cy="365760"/>
          </a:xfrm>
          <a:prstGeom prst="rect">
            <a:avLst/>
          </a:prstGeom>
          <a:noFill/>
          <a:ln/>
        </p:spPr>
        <p:txBody>
          <a:bodyPr wrap="square" lIns="0" tIns="0" rIns="0" bIns="0" rtlCol="0" anchor="t"/>
          <a:lstStyle/>
          <a:p>
            <a:pPr indent="0" marL="0">
              <a:buNone/>
            </a:pPr>
            <a:r>
              <a:rPr lang="en-US" sz="1050" dirty="0">
                <a:solidFill>
                  <a:srgbClr val="3A3A3F"/>
                </a:solidFill>
                <a:latin typeface="Helvetica Neue" pitchFamily="34" charset="0"/>
                <a:ea typeface="Helvetica Neue" pitchFamily="34" charset="-122"/>
                <a:cs typeface="Helvetica Neue" pitchFamily="34" charset="-120"/>
              </a:rPr>
              <a:t>LLM advice request in flight</a:t>
            </a:r>
            <a:endParaRPr lang="en-US" sz="1050" dirty="0"/>
          </a:p>
        </p:txBody>
      </p:sp>
      <p:sp>
        <p:nvSpPr>
          <p:cNvPr id="19" name="Shape 17"/>
          <p:cNvSpPr/>
          <p:nvPr/>
        </p:nvSpPr>
        <p:spPr>
          <a:xfrm>
            <a:off x="4414418" y="4754880"/>
            <a:ext cx="3362858" cy="914400"/>
          </a:xfrm>
          <a:prstGeom prst="roundRect">
            <a:avLst>
              <a:gd name="adj" fmla="val 6000"/>
            </a:avLst>
          </a:prstGeom>
          <a:solidFill>
            <a:srgbClr val="F7F7F5"/>
          </a:solidFill>
          <a:ln w="6350">
            <a:solidFill>
              <a:srgbClr val="D9D9D6"/>
            </a:solidFill>
            <a:prstDash val="solid"/>
          </a:ln>
        </p:spPr>
      </p:sp>
      <p:sp>
        <p:nvSpPr>
          <p:cNvPr id="20" name="Text 18"/>
          <p:cNvSpPr/>
          <p:nvPr/>
        </p:nvSpPr>
        <p:spPr>
          <a:xfrm>
            <a:off x="4597298" y="4864608"/>
            <a:ext cx="2997098" cy="320040"/>
          </a:xfrm>
          <a:prstGeom prst="rect">
            <a:avLst/>
          </a:prstGeom>
          <a:noFill/>
          <a:ln/>
        </p:spPr>
        <p:txBody>
          <a:bodyPr wrap="none" lIns="0" tIns="0" rIns="0" bIns="0" rtlCol="0" anchor="ctr" vert="horz">
            <a:normAutofit/>
          </a:bodyPr>
          <a:lstStyle/>
          <a:p>
            <a:pPr algn="l" indent="0" marL="0">
              <a:buNone/>
            </a:pPr>
            <a:r>
              <a:rPr lang="en-US" sz="1100" b="1" dirty="0">
                <a:solidFill>
                  <a:srgbClr val="0A84FF"/>
                </a:solidFill>
                <a:latin typeface="Menlo" pitchFamily="34" charset="0"/>
                <a:ea typeface="Menlo" pitchFamily="34" charset="-122"/>
                <a:cs typeface="Menlo" pitchFamily="34" charset="-120"/>
              </a:rPr>
              <a:t>alert</a:t>
            </a:r>
            <a:endParaRPr lang="en-US" sz="1100" dirty="0"/>
          </a:p>
        </p:txBody>
      </p:sp>
      <p:sp>
        <p:nvSpPr>
          <p:cNvPr id="21" name="Text 19"/>
          <p:cNvSpPr/>
          <p:nvPr/>
        </p:nvSpPr>
        <p:spPr>
          <a:xfrm>
            <a:off x="4597298" y="5212080"/>
            <a:ext cx="2997098" cy="365760"/>
          </a:xfrm>
          <a:prstGeom prst="rect">
            <a:avLst/>
          </a:prstGeom>
          <a:noFill/>
          <a:ln/>
        </p:spPr>
        <p:txBody>
          <a:bodyPr wrap="square" lIns="0" tIns="0" rIns="0" bIns="0" rtlCol="0" anchor="t"/>
          <a:lstStyle/>
          <a:p>
            <a:pPr indent="0" marL="0">
              <a:buNone/>
            </a:pPr>
            <a:r>
              <a:rPr lang="en-US" sz="1050" dirty="0">
                <a:solidFill>
                  <a:srgbClr val="3A3A3F"/>
                </a:solidFill>
                <a:latin typeface="Helvetica Neue" pitchFamily="34" charset="0"/>
                <a:ea typeface="Helvetica Neue" pitchFamily="34" charset="-122"/>
                <a:cs typeface="Helvetica Neue" pitchFamily="34" charset="-120"/>
              </a:rPr>
              <a:t>live call capture running</a:t>
            </a:r>
            <a:endParaRPr lang="en-US" sz="1050" dirty="0"/>
          </a:p>
        </p:txBody>
      </p:sp>
      <p:sp>
        <p:nvSpPr>
          <p:cNvPr id="22" name="Shape 20"/>
          <p:cNvSpPr/>
          <p:nvPr/>
        </p:nvSpPr>
        <p:spPr>
          <a:xfrm>
            <a:off x="8051597" y="4754880"/>
            <a:ext cx="3362858" cy="914400"/>
          </a:xfrm>
          <a:prstGeom prst="roundRect">
            <a:avLst>
              <a:gd name="adj" fmla="val 6000"/>
            </a:avLst>
          </a:prstGeom>
          <a:solidFill>
            <a:srgbClr val="F7F7F5"/>
          </a:solidFill>
          <a:ln w="6350">
            <a:solidFill>
              <a:srgbClr val="D9D9D6"/>
            </a:solidFill>
            <a:prstDash val="solid"/>
          </a:ln>
        </p:spPr>
      </p:sp>
      <p:sp>
        <p:nvSpPr>
          <p:cNvPr id="23" name="Text 21"/>
          <p:cNvSpPr/>
          <p:nvPr/>
        </p:nvSpPr>
        <p:spPr>
          <a:xfrm>
            <a:off x="8234477" y="4864608"/>
            <a:ext cx="2997098" cy="320040"/>
          </a:xfrm>
          <a:prstGeom prst="rect">
            <a:avLst/>
          </a:prstGeom>
          <a:noFill/>
          <a:ln/>
        </p:spPr>
        <p:txBody>
          <a:bodyPr wrap="none" lIns="0" tIns="0" rIns="0" bIns="0" rtlCol="0" anchor="ctr" vert="horz">
            <a:normAutofit/>
          </a:bodyPr>
          <a:lstStyle/>
          <a:p>
            <a:pPr algn="l" indent="0" marL="0">
              <a:buNone/>
            </a:pPr>
            <a:r>
              <a:rPr lang="en-US" sz="1100" b="1" dirty="0">
                <a:solidFill>
                  <a:srgbClr val="0A84FF"/>
                </a:solidFill>
                <a:latin typeface="Menlo" pitchFamily="34" charset="0"/>
                <a:ea typeface="Menlo" pitchFamily="34" charset="-122"/>
                <a:cs typeface="Menlo" pitchFamily="34" charset="-120"/>
              </a:rPr>
              <a:t>dragged</a:t>
            </a:r>
            <a:endParaRPr lang="en-US" sz="1100" dirty="0"/>
          </a:p>
        </p:txBody>
      </p:sp>
      <p:sp>
        <p:nvSpPr>
          <p:cNvPr id="24" name="Text 22"/>
          <p:cNvSpPr/>
          <p:nvPr/>
        </p:nvSpPr>
        <p:spPr>
          <a:xfrm>
            <a:off x="8234477" y="5212080"/>
            <a:ext cx="2997098" cy="365760"/>
          </a:xfrm>
          <a:prstGeom prst="rect">
            <a:avLst/>
          </a:prstGeom>
          <a:noFill/>
          <a:ln/>
        </p:spPr>
        <p:txBody>
          <a:bodyPr wrap="square" lIns="0" tIns="0" rIns="0" bIns="0" rtlCol="0" anchor="t"/>
          <a:lstStyle/>
          <a:p>
            <a:pPr indent="0" marL="0">
              <a:buNone/>
            </a:pPr>
            <a:r>
              <a:rPr lang="en-US" sz="1050" dirty="0">
                <a:solidFill>
                  <a:srgbClr val="3A3A3F"/>
                </a:solidFill>
                <a:latin typeface="Helvetica Neue" pitchFamily="34" charset="0"/>
                <a:ea typeface="Helvetica Neue" pitchFamily="34" charset="-122"/>
                <a:cs typeface="Helvetica Neue" pitchFamily="34" charset="-120"/>
              </a:rPr>
              <a:t>pointer down, being moved</a:t>
            </a:r>
            <a:endParaRPr lang="en-US" sz="1050" dirty="0"/>
          </a:p>
        </p:txBody>
      </p:sp>
      <p:sp>
        <p:nvSpPr>
          <p:cNvPr id="25" name="Text 23"/>
          <p:cNvSpPr/>
          <p:nvPr/>
        </p:nvSpPr>
        <p:spPr>
          <a:xfrm>
            <a:off x="777240" y="5989320"/>
            <a:ext cx="10637215" cy="1463040"/>
          </a:xfrm>
          <a:prstGeom prst="rect">
            <a:avLst/>
          </a:prstGeom>
          <a:noFill/>
          <a:ln/>
        </p:spPr>
        <p:txBody>
          <a:bodyPr wrap="square" lIns="0" tIns="0" rIns="0" bIns="0" rtlCol="0" anchor="t"/>
          <a:lstStyle/>
          <a:p>
            <a:pPr indent="0" marL="0">
              <a:lnSpc>
                <a:spcPct val="125000"/>
              </a:lnSpc>
              <a:buNone/>
            </a:pPr>
            <a:r>
              <a:rPr lang="en-US" sz="1150" dirty="0">
                <a:solidFill>
                  <a:srgbClr val="7A7A80"/>
                </a:solidFill>
                <a:latin typeface="Helvetica Neue" pitchFamily="34" charset="0"/>
                <a:ea typeface="Helvetica Neue" pitchFamily="34" charset="-122"/>
                <a:cs typeface="Helvetica Neue" pitchFamily="34" charset="-120"/>
              </a:rPr>
              <a:t>Bonus: a keyword-alert dictionary. Add a word; when the transcript hears it, the cat pops an amber bubble with your custom reminder.</a:t>
            </a:r>
            <a:endParaRPr lang="en-US" sz="1150" dirty="0"/>
          </a:p>
        </p:txBody>
      </p:sp>
      <p:sp>
        <p:nvSpPr>
          <p:cNvPr id="26" name="Text 24"/>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QUALITY OF LIFE · 04</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Eleven themes, glass panels, and a canvas you control.</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468880"/>
            <a:ext cx="10637215" cy="1463040"/>
          </a:xfrm>
          <a:prstGeom prst="rect">
            <a:avLst/>
          </a:prstGeom>
          <a:noFill/>
          <a:ln/>
        </p:spPr>
        <p:txBody>
          <a:bodyPr wrap="square" lIns="0" tIns="0" rIns="0" bIns="0" rtlCol="0" anchor="t"/>
          <a:lstStyle/>
          <a:p>
            <a:pPr indent="0" marL="0">
              <a:lnSpc>
                <a:spcPct val="125000"/>
              </a:lnSpc>
              <a:buNone/>
            </a:pPr>
            <a:r>
              <a:rPr lang="en-US" sz="1350" dirty="0">
                <a:solidFill>
                  <a:srgbClr val="3A3A3F"/>
                </a:solidFill>
                <a:latin typeface="Helvetica Neue" pitchFamily="34" charset="0"/>
                <a:ea typeface="Helvetica Neue" pitchFamily="34" charset="-122"/>
                <a:cs typeface="Helvetica Neue" pitchFamily="34" charset="-120"/>
              </a:rPr>
              <a:t>Eleven themes (5 time-of-day + 3 neutral greys + 3 tints) cycle from the left rail. Every panel is a frosted-glass surface — backdrop-blur, saturation, hairline ring — and the canvas itself is composable.</a:t>
            </a:r>
            <a:endParaRPr lang="en-US" sz="1350" dirty="0"/>
          </a:p>
        </p:txBody>
      </p:sp>
      <p:sp>
        <p:nvSpPr>
          <p:cNvPr id="7" name="Shape 5"/>
          <p:cNvSpPr/>
          <p:nvPr/>
        </p:nvSpPr>
        <p:spPr>
          <a:xfrm>
            <a:off x="777240" y="3566160"/>
            <a:ext cx="1508760" cy="457200"/>
          </a:xfrm>
          <a:prstGeom prst="roundRect">
            <a:avLst>
              <a:gd name="adj" fmla="val 12000"/>
            </a:avLst>
          </a:prstGeom>
          <a:solidFill>
            <a:srgbClr val="F7F7F5"/>
          </a:solidFill>
          <a:ln w="6350">
            <a:solidFill>
              <a:srgbClr val="D9D9D6"/>
            </a:solidFill>
            <a:prstDash val="solid"/>
          </a:ln>
        </p:spPr>
      </p:sp>
      <p:sp>
        <p:nvSpPr>
          <p:cNvPr id="8" name="Text 6"/>
          <p:cNvSpPr/>
          <p:nvPr/>
        </p:nvSpPr>
        <p:spPr>
          <a:xfrm>
            <a:off x="777240" y="3566160"/>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Daylight</a:t>
            </a:r>
            <a:endParaRPr lang="en-US" sz="1050" dirty="0"/>
          </a:p>
        </p:txBody>
      </p:sp>
      <p:sp>
        <p:nvSpPr>
          <p:cNvPr id="9" name="Shape 7"/>
          <p:cNvSpPr/>
          <p:nvPr/>
        </p:nvSpPr>
        <p:spPr>
          <a:xfrm>
            <a:off x="2450592" y="3566160"/>
            <a:ext cx="1508760" cy="457200"/>
          </a:xfrm>
          <a:prstGeom prst="roundRect">
            <a:avLst>
              <a:gd name="adj" fmla="val 12000"/>
            </a:avLst>
          </a:prstGeom>
          <a:solidFill>
            <a:srgbClr val="F7F7F5"/>
          </a:solidFill>
          <a:ln w="6350">
            <a:solidFill>
              <a:srgbClr val="D9D9D6"/>
            </a:solidFill>
            <a:prstDash val="solid"/>
          </a:ln>
        </p:spPr>
      </p:sp>
      <p:sp>
        <p:nvSpPr>
          <p:cNvPr id="10" name="Text 8"/>
          <p:cNvSpPr/>
          <p:nvPr/>
        </p:nvSpPr>
        <p:spPr>
          <a:xfrm>
            <a:off x="2450592" y="3566160"/>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Morning</a:t>
            </a:r>
            <a:endParaRPr lang="en-US" sz="1050" dirty="0"/>
          </a:p>
        </p:txBody>
      </p:sp>
      <p:sp>
        <p:nvSpPr>
          <p:cNvPr id="11" name="Shape 9"/>
          <p:cNvSpPr/>
          <p:nvPr/>
        </p:nvSpPr>
        <p:spPr>
          <a:xfrm>
            <a:off x="4123944" y="3566160"/>
            <a:ext cx="1508760" cy="457200"/>
          </a:xfrm>
          <a:prstGeom prst="roundRect">
            <a:avLst>
              <a:gd name="adj" fmla="val 12000"/>
            </a:avLst>
          </a:prstGeom>
          <a:solidFill>
            <a:srgbClr val="F7F7F5"/>
          </a:solidFill>
          <a:ln w="6350">
            <a:solidFill>
              <a:srgbClr val="D9D9D6"/>
            </a:solidFill>
            <a:prstDash val="solid"/>
          </a:ln>
        </p:spPr>
      </p:sp>
      <p:sp>
        <p:nvSpPr>
          <p:cNvPr id="12" name="Text 10"/>
          <p:cNvSpPr/>
          <p:nvPr/>
        </p:nvSpPr>
        <p:spPr>
          <a:xfrm>
            <a:off x="4123944" y="3566160"/>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Afternoon</a:t>
            </a:r>
            <a:endParaRPr lang="en-US" sz="1050" dirty="0"/>
          </a:p>
        </p:txBody>
      </p:sp>
      <p:sp>
        <p:nvSpPr>
          <p:cNvPr id="13" name="Shape 11"/>
          <p:cNvSpPr/>
          <p:nvPr/>
        </p:nvSpPr>
        <p:spPr>
          <a:xfrm>
            <a:off x="5797296" y="3566160"/>
            <a:ext cx="1508760" cy="457200"/>
          </a:xfrm>
          <a:prstGeom prst="roundRect">
            <a:avLst>
              <a:gd name="adj" fmla="val 12000"/>
            </a:avLst>
          </a:prstGeom>
          <a:solidFill>
            <a:srgbClr val="F7F7F5"/>
          </a:solidFill>
          <a:ln w="6350">
            <a:solidFill>
              <a:srgbClr val="D9D9D6"/>
            </a:solidFill>
            <a:prstDash val="solid"/>
          </a:ln>
        </p:spPr>
      </p:sp>
      <p:sp>
        <p:nvSpPr>
          <p:cNvPr id="14" name="Text 12"/>
          <p:cNvSpPr/>
          <p:nvPr/>
        </p:nvSpPr>
        <p:spPr>
          <a:xfrm>
            <a:off x="5797296" y="3566160"/>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Slate</a:t>
            </a:r>
            <a:endParaRPr lang="en-US" sz="1050" dirty="0"/>
          </a:p>
        </p:txBody>
      </p:sp>
      <p:sp>
        <p:nvSpPr>
          <p:cNvPr id="15" name="Shape 13"/>
          <p:cNvSpPr/>
          <p:nvPr/>
        </p:nvSpPr>
        <p:spPr>
          <a:xfrm>
            <a:off x="7470648" y="3566160"/>
            <a:ext cx="1508760" cy="457200"/>
          </a:xfrm>
          <a:prstGeom prst="roundRect">
            <a:avLst>
              <a:gd name="adj" fmla="val 12000"/>
            </a:avLst>
          </a:prstGeom>
          <a:solidFill>
            <a:srgbClr val="F7F7F5"/>
          </a:solidFill>
          <a:ln w="6350">
            <a:solidFill>
              <a:srgbClr val="D9D9D6"/>
            </a:solidFill>
            <a:prstDash val="solid"/>
          </a:ln>
        </p:spPr>
      </p:sp>
      <p:sp>
        <p:nvSpPr>
          <p:cNvPr id="16" name="Text 14"/>
          <p:cNvSpPr/>
          <p:nvPr/>
        </p:nvSpPr>
        <p:spPr>
          <a:xfrm>
            <a:off x="7470648" y="3566160"/>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Neutral</a:t>
            </a:r>
            <a:endParaRPr lang="en-US" sz="1050" dirty="0"/>
          </a:p>
        </p:txBody>
      </p:sp>
      <p:sp>
        <p:nvSpPr>
          <p:cNvPr id="17" name="Shape 15"/>
          <p:cNvSpPr/>
          <p:nvPr/>
        </p:nvSpPr>
        <p:spPr>
          <a:xfrm>
            <a:off x="9144000" y="3566160"/>
            <a:ext cx="1508760" cy="457200"/>
          </a:xfrm>
          <a:prstGeom prst="roundRect">
            <a:avLst>
              <a:gd name="adj" fmla="val 12000"/>
            </a:avLst>
          </a:prstGeom>
          <a:solidFill>
            <a:srgbClr val="F7F7F5"/>
          </a:solidFill>
          <a:ln w="6350">
            <a:solidFill>
              <a:srgbClr val="D9D9D6"/>
            </a:solidFill>
            <a:prstDash val="solid"/>
          </a:ln>
        </p:spPr>
      </p:sp>
      <p:sp>
        <p:nvSpPr>
          <p:cNvPr id="18" name="Text 16"/>
          <p:cNvSpPr/>
          <p:nvPr/>
        </p:nvSpPr>
        <p:spPr>
          <a:xfrm>
            <a:off x="9144000" y="3566160"/>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Breezy</a:t>
            </a:r>
            <a:endParaRPr lang="en-US" sz="1050" dirty="0"/>
          </a:p>
        </p:txBody>
      </p:sp>
      <p:sp>
        <p:nvSpPr>
          <p:cNvPr id="19" name="Shape 17"/>
          <p:cNvSpPr/>
          <p:nvPr/>
        </p:nvSpPr>
        <p:spPr>
          <a:xfrm>
            <a:off x="777240" y="4187952"/>
            <a:ext cx="1508760" cy="457200"/>
          </a:xfrm>
          <a:prstGeom prst="roundRect">
            <a:avLst>
              <a:gd name="adj" fmla="val 12000"/>
            </a:avLst>
          </a:prstGeom>
          <a:solidFill>
            <a:srgbClr val="F7F7F5"/>
          </a:solidFill>
          <a:ln w="6350">
            <a:solidFill>
              <a:srgbClr val="D9D9D6"/>
            </a:solidFill>
            <a:prstDash val="solid"/>
          </a:ln>
        </p:spPr>
      </p:sp>
      <p:sp>
        <p:nvSpPr>
          <p:cNvPr id="20" name="Text 18"/>
          <p:cNvSpPr/>
          <p:nvPr/>
        </p:nvSpPr>
        <p:spPr>
          <a:xfrm>
            <a:off x="777240" y="4187952"/>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Evening</a:t>
            </a:r>
            <a:endParaRPr lang="en-US" sz="1050" dirty="0"/>
          </a:p>
        </p:txBody>
      </p:sp>
      <p:sp>
        <p:nvSpPr>
          <p:cNvPr id="21" name="Shape 19"/>
          <p:cNvSpPr/>
          <p:nvPr/>
        </p:nvSpPr>
        <p:spPr>
          <a:xfrm>
            <a:off x="2450592" y="4187952"/>
            <a:ext cx="1508760" cy="457200"/>
          </a:xfrm>
          <a:prstGeom prst="roundRect">
            <a:avLst>
              <a:gd name="adj" fmla="val 12000"/>
            </a:avLst>
          </a:prstGeom>
          <a:solidFill>
            <a:srgbClr val="F7F7F5"/>
          </a:solidFill>
          <a:ln w="6350">
            <a:solidFill>
              <a:srgbClr val="D9D9D6"/>
            </a:solidFill>
            <a:prstDash val="solid"/>
          </a:ln>
        </p:spPr>
      </p:sp>
      <p:sp>
        <p:nvSpPr>
          <p:cNvPr id="22" name="Text 20"/>
          <p:cNvSpPr/>
          <p:nvPr/>
        </p:nvSpPr>
        <p:spPr>
          <a:xfrm>
            <a:off x="2450592" y="4187952"/>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Midnight</a:t>
            </a:r>
            <a:endParaRPr lang="en-US" sz="1050" dirty="0"/>
          </a:p>
        </p:txBody>
      </p:sp>
      <p:sp>
        <p:nvSpPr>
          <p:cNvPr id="23" name="Shape 21"/>
          <p:cNvSpPr/>
          <p:nvPr/>
        </p:nvSpPr>
        <p:spPr>
          <a:xfrm>
            <a:off x="4123944" y="4187952"/>
            <a:ext cx="1508760" cy="457200"/>
          </a:xfrm>
          <a:prstGeom prst="roundRect">
            <a:avLst>
              <a:gd name="adj" fmla="val 12000"/>
            </a:avLst>
          </a:prstGeom>
          <a:solidFill>
            <a:srgbClr val="F7F7F5"/>
          </a:solidFill>
          <a:ln w="6350">
            <a:solidFill>
              <a:srgbClr val="D9D9D6"/>
            </a:solidFill>
            <a:prstDash val="solid"/>
          </a:ln>
        </p:spPr>
      </p:sp>
      <p:sp>
        <p:nvSpPr>
          <p:cNvPr id="24" name="Text 22"/>
          <p:cNvSpPr/>
          <p:nvPr/>
        </p:nvSpPr>
        <p:spPr>
          <a:xfrm>
            <a:off x="4123944" y="4187952"/>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Zinc</a:t>
            </a:r>
            <a:endParaRPr lang="en-US" sz="1050" dirty="0"/>
          </a:p>
        </p:txBody>
      </p:sp>
      <p:sp>
        <p:nvSpPr>
          <p:cNvPr id="25" name="Shape 23"/>
          <p:cNvSpPr/>
          <p:nvPr/>
        </p:nvSpPr>
        <p:spPr>
          <a:xfrm>
            <a:off x="5797296" y="4187952"/>
            <a:ext cx="1508760" cy="457200"/>
          </a:xfrm>
          <a:prstGeom prst="roundRect">
            <a:avLst>
              <a:gd name="adj" fmla="val 12000"/>
            </a:avLst>
          </a:prstGeom>
          <a:solidFill>
            <a:srgbClr val="F7F7F5"/>
          </a:solidFill>
          <a:ln w="6350">
            <a:solidFill>
              <a:srgbClr val="D9D9D6"/>
            </a:solidFill>
            <a:prstDash val="solid"/>
          </a:ln>
        </p:spPr>
      </p:sp>
      <p:sp>
        <p:nvSpPr>
          <p:cNvPr id="26" name="Text 24"/>
          <p:cNvSpPr/>
          <p:nvPr/>
        </p:nvSpPr>
        <p:spPr>
          <a:xfrm>
            <a:off x="5797296" y="4187952"/>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Amethyst</a:t>
            </a:r>
            <a:endParaRPr lang="en-US" sz="1050" dirty="0"/>
          </a:p>
        </p:txBody>
      </p:sp>
      <p:sp>
        <p:nvSpPr>
          <p:cNvPr id="27" name="Shape 25"/>
          <p:cNvSpPr/>
          <p:nvPr/>
        </p:nvSpPr>
        <p:spPr>
          <a:xfrm>
            <a:off x="7470648" y="4187952"/>
            <a:ext cx="1508760" cy="457200"/>
          </a:xfrm>
          <a:prstGeom prst="roundRect">
            <a:avLst>
              <a:gd name="adj" fmla="val 12000"/>
            </a:avLst>
          </a:prstGeom>
          <a:solidFill>
            <a:srgbClr val="F7F7F5"/>
          </a:solidFill>
          <a:ln w="6350">
            <a:solidFill>
              <a:srgbClr val="D9D9D6"/>
            </a:solidFill>
            <a:prstDash val="solid"/>
          </a:ln>
        </p:spPr>
      </p:sp>
      <p:sp>
        <p:nvSpPr>
          <p:cNvPr id="28" name="Text 26"/>
          <p:cNvSpPr/>
          <p:nvPr/>
        </p:nvSpPr>
        <p:spPr>
          <a:xfrm>
            <a:off x="7470648" y="4187952"/>
            <a:ext cx="1508760" cy="457200"/>
          </a:xfrm>
          <a:prstGeom prst="rect">
            <a:avLst/>
          </a:prstGeom>
          <a:noFill/>
          <a:ln/>
        </p:spPr>
        <p:txBody>
          <a:bodyPr wrap="square" lIns="0" tIns="0" rIns="0" bIns="0" rtlCol="0" anchor="ctr"/>
          <a:lstStyle/>
          <a:p>
            <a:pPr algn="ctr" indent="0" marL="0">
              <a:buNone/>
            </a:pPr>
            <a:r>
              <a:rPr lang="en-US" sz="1050" dirty="0">
                <a:solidFill>
                  <a:srgbClr val="3A3A3F"/>
                </a:solidFill>
                <a:latin typeface="Helvetica Neue" pitchFamily="34" charset="0"/>
                <a:ea typeface="Helvetica Neue" pitchFamily="34" charset="-122"/>
                <a:cs typeface="Helvetica Neue" pitchFamily="34" charset="-120"/>
              </a:rPr>
              <a:t>Moss</a:t>
            </a:r>
            <a:endParaRPr lang="en-US" sz="1050" dirty="0"/>
          </a:p>
        </p:txBody>
      </p:sp>
      <p:sp>
        <p:nvSpPr>
          <p:cNvPr id="29" name="Text 27"/>
          <p:cNvSpPr/>
          <p:nvPr/>
        </p:nvSpPr>
        <p:spPr>
          <a:xfrm>
            <a:off x="777240" y="5029200"/>
            <a:ext cx="10637215" cy="1463040"/>
          </a:xfrm>
          <a:prstGeom prst="rect">
            <a:avLst/>
          </a:prstGeom>
          <a:noFill/>
          <a:ln/>
        </p:spPr>
        <p:txBody>
          <a:bodyPr wrap="square" lIns="0" tIns="0" rIns="0" bIns="0" rtlCol="0" anchor="t"/>
          <a:lstStyle/>
          <a:p>
            <a:pPr indent="0" marL="0">
              <a:lnSpc>
                <a:spcPct val="125000"/>
              </a:lnSpc>
              <a:buNone/>
            </a:pPr>
            <a:r>
              <a:rPr lang="en-US" sz="1250" dirty="0">
                <a:solidFill>
                  <a:srgbClr val="3A3A3F"/>
                </a:solidFill>
                <a:latin typeface="Helvetica Neue" pitchFamily="34" charset="0"/>
                <a:ea typeface="Helvetica Neue" pitchFamily="34" charset="-122"/>
                <a:cs typeface="Helvetica Neue" pitchFamily="34" charset="-120"/>
              </a:rPr>
              <a:t>Gridbox toggles hide or show canvas nodes — Shipping address, 24h tracker, SKU, Order number, Additional notes — without losing their values. A larger-text toggle scales the whole UI for the back of the room.</a:t>
            </a:r>
            <a:endParaRPr lang="en-US" sz="1250" dirty="0"/>
          </a:p>
        </p:txBody>
      </p:sp>
      <p:sp>
        <p:nvSpPr>
          <p:cNvPr id="30" name="Text 28"/>
          <p:cNvSpPr/>
          <p:nvPr/>
        </p:nvSpPr>
        <p:spPr>
          <a:xfrm>
            <a:off x="777240" y="6144768"/>
            <a:ext cx="10637215" cy="292608"/>
          </a:xfrm>
          <a:prstGeom prst="rect">
            <a:avLst/>
          </a:prstGeom>
          <a:noFill/>
          <a:ln/>
        </p:spPr>
        <p:txBody>
          <a:bodyPr wrap="square" lIns="0" tIns="0" rIns="0" bIns="0" rtlCol="0" anchor="ctr"/>
          <a:lstStyle/>
          <a:p>
            <a:pPr algn="l" indent="0" marL="0">
              <a:buNone/>
            </a:pPr>
            <a:r>
              <a:rPr lang="en-US" sz="1000" i="1" dirty="0">
                <a:solidFill>
                  <a:srgbClr val="7A7A80"/>
                </a:solidFill>
                <a:latin typeface="Helvetica Neue" pitchFamily="34" charset="0"/>
                <a:ea typeface="Helvetica Neue" pitchFamily="34" charset="-122"/>
                <a:cs typeface="Helvetica Neue" pitchFamily="34" charset="-120"/>
              </a:rPr>
              <a:t>themes.ts · FloatingControls.tsx — 11 themes, glass-panel class, gridbox visibility.</a:t>
            </a:r>
            <a:endParaRPr lang="en-US" sz="1000" dirty="0"/>
          </a:p>
        </p:txBody>
      </p:sp>
      <p:sp>
        <p:nvSpPr>
          <p:cNvPr id="31" name="Text 29"/>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QUALITY OF LIFE · 05</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Dozens of smaller touches.</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Shape 4"/>
          <p:cNvSpPr/>
          <p:nvPr/>
        </p:nvSpPr>
        <p:spPr>
          <a:xfrm>
            <a:off x="777240" y="2468880"/>
            <a:ext cx="5135728" cy="1783080"/>
          </a:xfrm>
          <a:prstGeom prst="roundRect">
            <a:avLst>
              <a:gd name="adj" fmla="val 4103"/>
            </a:avLst>
          </a:prstGeom>
          <a:solidFill>
            <a:srgbClr val="F7F7F5"/>
          </a:solidFill>
          <a:ln w="6350">
            <a:solidFill>
              <a:srgbClr val="D9D9D6"/>
            </a:solidFill>
            <a:prstDash val="solid"/>
          </a:ln>
        </p:spPr>
      </p:sp>
      <p:sp>
        <p:nvSpPr>
          <p:cNvPr id="7" name="Text 5"/>
          <p:cNvSpPr/>
          <p:nvPr/>
        </p:nvSpPr>
        <p:spPr>
          <a:xfrm>
            <a:off x="1005840" y="2633472"/>
            <a:ext cx="4678528" cy="365760"/>
          </a:xfrm>
          <a:prstGeom prst="rect">
            <a:avLst/>
          </a:prstGeom>
          <a:noFill/>
          <a:ln/>
        </p:spPr>
        <p:txBody>
          <a:bodyPr wrap="none" lIns="0" tIns="0" rIns="0" bIns="0" rtlCol="0" anchor="ctr" vert="horz">
            <a:normAutofit/>
          </a:bodyPr>
          <a:lstStyle/>
          <a:p>
            <a:pPr algn="l" indent="0" marL="0">
              <a:buNone/>
            </a:pPr>
            <a:r>
              <a:rPr lang="en-US" sz="1300" b="1" dirty="0">
                <a:solidFill>
                  <a:srgbClr val="111114"/>
                </a:solidFill>
                <a:latin typeface="Menlo" pitchFamily="34" charset="0"/>
                <a:ea typeface="Menlo" pitchFamily="34" charset="-122"/>
                <a:cs typeface="Menlo" pitchFamily="34" charset="-120"/>
              </a:rPr>
              <a:t>History panel</a:t>
            </a:r>
            <a:endParaRPr lang="en-US" sz="1300" dirty="0"/>
          </a:p>
        </p:txBody>
      </p:sp>
      <p:sp>
        <p:nvSpPr>
          <p:cNvPr id="8" name="Text 6"/>
          <p:cNvSpPr/>
          <p:nvPr/>
        </p:nvSpPr>
        <p:spPr>
          <a:xfrm>
            <a:off x="1005840" y="3035808"/>
            <a:ext cx="2824650" cy="1005840"/>
          </a:xfrm>
          <a:prstGeom prst="rect">
            <a:avLst/>
          </a:prstGeom>
          <a:noFill/>
          <a:ln/>
        </p:spPr>
        <p:txBody>
          <a:bodyPr wrap="square" lIns="0" tIns="0" rIns="0" bIns="0" rtlCol="0" anchor="t"/>
          <a:lstStyle/>
          <a:p>
            <a:pPr indent="0" marL="0">
              <a:lnSpc>
                <a:spcPct val="125000"/>
              </a:lnSpc>
              <a:buNone/>
            </a:pPr>
            <a:r>
              <a:rPr lang="en-US" sz="1100" dirty="0">
                <a:solidFill>
                  <a:srgbClr val="3A3A3F"/>
                </a:solidFill>
                <a:latin typeface="Helvetica Neue" pitchFamily="34" charset="0"/>
                <a:ea typeface="Helvetica Neue" pitchFamily="34" charset="-122"/>
                <a:cs typeface="Helvetica Neue" pitchFamily="34" charset="-120"/>
              </a:rPr>
              <a:t>Searchable archive of past notes by customer or issue.</a:t>
            </a:r>
            <a:endParaRPr lang="en-US" sz="1100" dirty="0"/>
          </a:p>
        </p:txBody>
      </p:sp>
      <p:pic>
        <p:nvPicPr>
          <p:cNvPr id="9" name="Image 0" descr="/Users/susul/Dev/econote/note-master/ppt-build/assets/fit/fit_07_history_panel.png">    </p:cNvPr>
          <p:cNvPicPr>
            <a:picLocks noChangeAspect="1"/>
          </p:cNvPicPr>
          <p:nvPr/>
        </p:nvPicPr>
        <p:blipFill>
          <a:blip r:embed="rId1"/>
          <a:stretch>
            <a:fillRect/>
          </a:stretch>
        </p:blipFill>
        <p:spPr>
          <a:xfrm>
            <a:off x="3675797" y="2599690"/>
            <a:ext cx="2054291" cy="1521459"/>
          </a:xfrm>
          <a:prstGeom prst="rect">
            <a:avLst/>
          </a:prstGeom>
        </p:spPr>
      </p:pic>
      <p:sp>
        <p:nvSpPr>
          <p:cNvPr id="10" name="Shape 7"/>
          <p:cNvSpPr/>
          <p:nvPr/>
        </p:nvSpPr>
        <p:spPr>
          <a:xfrm>
            <a:off x="6278728" y="2468880"/>
            <a:ext cx="5135728" cy="1783080"/>
          </a:xfrm>
          <a:prstGeom prst="roundRect">
            <a:avLst>
              <a:gd name="adj" fmla="val 4103"/>
            </a:avLst>
          </a:prstGeom>
          <a:solidFill>
            <a:srgbClr val="F7F7F5"/>
          </a:solidFill>
          <a:ln w="6350">
            <a:solidFill>
              <a:srgbClr val="D9D9D6"/>
            </a:solidFill>
            <a:prstDash val="solid"/>
          </a:ln>
        </p:spPr>
      </p:sp>
      <p:sp>
        <p:nvSpPr>
          <p:cNvPr id="11" name="Text 8"/>
          <p:cNvSpPr/>
          <p:nvPr/>
        </p:nvSpPr>
        <p:spPr>
          <a:xfrm>
            <a:off x="6507328" y="2633472"/>
            <a:ext cx="4678528" cy="365760"/>
          </a:xfrm>
          <a:prstGeom prst="rect">
            <a:avLst/>
          </a:prstGeom>
          <a:noFill/>
          <a:ln/>
        </p:spPr>
        <p:txBody>
          <a:bodyPr wrap="none" lIns="0" tIns="0" rIns="0" bIns="0" rtlCol="0" anchor="ctr" vert="horz">
            <a:normAutofit/>
          </a:bodyPr>
          <a:lstStyle/>
          <a:p>
            <a:pPr algn="l" indent="0" marL="0">
              <a:buNone/>
            </a:pPr>
            <a:r>
              <a:rPr lang="en-US" sz="1300" b="1" dirty="0">
                <a:solidFill>
                  <a:srgbClr val="111114"/>
                </a:solidFill>
                <a:latin typeface="Menlo" pitchFamily="34" charset="0"/>
                <a:ea typeface="Menlo" pitchFamily="34" charset="-122"/>
                <a:cs typeface="Menlo" pitchFamily="34" charset="-120"/>
              </a:rPr>
              <a:t>Quick inserts</a:t>
            </a:r>
            <a:endParaRPr lang="en-US" sz="1300" dirty="0"/>
          </a:p>
        </p:txBody>
      </p:sp>
      <p:sp>
        <p:nvSpPr>
          <p:cNvPr id="12" name="Text 9"/>
          <p:cNvSpPr/>
          <p:nvPr/>
        </p:nvSpPr>
        <p:spPr>
          <a:xfrm>
            <a:off x="6507328" y="3035808"/>
            <a:ext cx="2824650" cy="1005840"/>
          </a:xfrm>
          <a:prstGeom prst="rect">
            <a:avLst/>
          </a:prstGeom>
          <a:noFill/>
          <a:ln/>
        </p:spPr>
        <p:txBody>
          <a:bodyPr wrap="square" lIns="0" tIns="0" rIns="0" bIns="0" rtlCol="0" anchor="t"/>
          <a:lstStyle/>
          <a:p>
            <a:pPr indent="0" marL="0">
              <a:lnSpc>
                <a:spcPct val="125000"/>
              </a:lnSpc>
              <a:buNone/>
            </a:pPr>
            <a:r>
              <a:rPr lang="en-US" sz="1100" dirty="0">
                <a:solidFill>
                  <a:srgbClr val="3A3A3F"/>
                </a:solidFill>
                <a:latin typeface="Helvetica Neue" pitchFamily="34" charset="0"/>
                <a:ea typeface="Helvetica Neue" pitchFamily="34" charset="-122"/>
                <a:cs typeface="Helvetica Neue" pitchFamily="34" charset="-120"/>
              </a:rPr>
              <a:t>67 one-click chips for the common issue descriptions.</a:t>
            </a:r>
            <a:endParaRPr lang="en-US" sz="1100" dirty="0"/>
          </a:p>
        </p:txBody>
      </p:sp>
      <p:pic>
        <p:nvPicPr>
          <p:cNvPr id="13" name="Image 1" descr="/Users/susul/Dev/econote/note-master/ppt-build/assets/fit/fit_08_template_panel.png">    </p:cNvPr>
          <p:cNvPicPr>
            <a:picLocks noChangeAspect="1"/>
          </p:cNvPicPr>
          <p:nvPr/>
        </p:nvPicPr>
        <p:blipFill>
          <a:blip r:embed="rId2"/>
          <a:stretch>
            <a:fillRect/>
          </a:stretch>
        </p:blipFill>
        <p:spPr>
          <a:xfrm>
            <a:off x="9177284" y="2599690"/>
            <a:ext cx="2054291" cy="1521459"/>
          </a:xfrm>
          <a:prstGeom prst="rect">
            <a:avLst/>
          </a:prstGeom>
        </p:spPr>
      </p:pic>
      <p:sp>
        <p:nvSpPr>
          <p:cNvPr id="14" name="Shape 10"/>
          <p:cNvSpPr/>
          <p:nvPr/>
        </p:nvSpPr>
        <p:spPr>
          <a:xfrm>
            <a:off x="777240" y="4480560"/>
            <a:ext cx="5135728" cy="1783080"/>
          </a:xfrm>
          <a:prstGeom prst="roundRect">
            <a:avLst>
              <a:gd name="adj" fmla="val 4103"/>
            </a:avLst>
          </a:prstGeom>
          <a:solidFill>
            <a:srgbClr val="F7F7F5"/>
          </a:solidFill>
          <a:ln w="6350">
            <a:solidFill>
              <a:srgbClr val="D9D9D6"/>
            </a:solidFill>
            <a:prstDash val="solid"/>
          </a:ln>
        </p:spPr>
      </p:sp>
      <p:sp>
        <p:nvSpPr>
          <p:cNvPr id="15" name="Text 11"/>
          <p:cNvSpPr/>
          <p:nvPr/>
        </p:nvSpPr>
        <p:spPr>
          <a:xfrm>
            <a:off x="1005840" y="4645152"/>
            <a:ext cx="4678528" cy="365760"/>
          </a:xfrm>
          <a:prstGeom prst="rect">
            <a:avLst/>
          </a:prstGeom>
          <a:noFill/>
          <a:ln/>
        </p:spPr>
        <p:txBody>
          <a:bodyPr wrap="none" lIns="0" tIns="0" rIns="0" bIns="0" rtlCol="0" anchor="ctr" vert="horz">
            <a:normAutofit/>
          </a:bodyPr>
          <a:lstStyle/>
          <a:p>
            <a:pPr algn="l" indent="0" marL="0">
              <a:buNone/>
            </a:pPr>
            <a:r>
              <a:rPr lang="en-US" sz="1300" b="1" dirty="0">
                <a:solidFill>
                  <a:srgbClr val="111114"/>
                </a:solidFill>
                <a:latin typeface="Menlo" pitchFamily="34" charset="0"/>
                <a:ea typeface="Menlo" pitchFamily="34" charset="-122"/>
                <a:cs typeface="Menlo" pitchFamily="34" charset="-120"/>
              </a:rPr>
              <a:t>QA checklist</a:t>
            </a:r>
            <a:endParaRPr lang="en-US" sz="1300" dirty="0"/>
          </a:p>
        </p:txBody>
      </p:sp>
      <p:sp>
        <p:nvSpPr>
          <p:cNvPr id="16" name="Text 12"/>
          <p:cNvSpPr/>
          <p:nvPr/>
        </p:nvSpPr>
        <p:spPr>
          <a:xfrm>
            <a:off x="1005840" y="5047488"/>
            <a:ext cx="4678528" cy="1005840"/>
          </a:xfrm>
          <a:prstGeom prst="rect">
            <a:avLst/>
          </a:prstGeom>
          <a:noFill/>
          <a:ln/>
        </p:spPr>
        <p:txBody>
          <a:bodyPr wrap="square" lIns="0" tIns="0" rIns="0" bIns="0" rtlCol="0" anchor="t"/>
          <a:lstStyle/>
          <a:p>
            <a:pPr indent="0" marL="0">
              <a:lnSpc>
                <a:spcPct val="125000"/>
              </a:lnSpc>
              <a:buNone/>
            </a:pPr>
            <a:r>
              <a:rPr lang="en-US" sz="1100" dirty="0">
                <a:solidFill>
                  <a:srgbClr val="3A3A3F"/>
                </a:solidFill>
                <a:latin typeface="Helvetica Neue" pitchFamily="34" charset="0"/>
                <a:ea typeface="Helvetica Neue" pitchFamily="34" charset="-122"/>
                <a:cs typeface="Helvetica Neue" pitchFamily="34" charset="-120"/>
              </a:rPr>
              <a:t>Weighted call-channel items, red/amber/green bars, scored by the LLM pass.</a:t>
            </a:r>
            <a:endParaRPr lang="en-US" sz="1100" dirty="0"/>
          </a:p>
        </p:txBody>
      </p:sp>
      <p:sp>
        <p:nvSpPr>
          <p:cNvPr id="17" name="Shape 13"/>
          <p:cNvSpPr/>
          <p:nvPr/>
        </p:nvSpPr>
        <p:spPr>
          <a:xfrm>
            <a:off x="6278728" y="4480560"/>
            <a:ext cx="5135728" cy="1783080"/>
          </a:xfrm>
          <a:prstGeom prst="roundRect">
            <a:avLst>
              <a:gd name="adj" fmla="val 4103"/>
            </a:avLst>
          </a:prstGeom>
          <a:solidFill>
            <a:srgbClr val="F7F7F5"/>
          </a:solidFill>
          <a:ln w="6350">
            <a:solidFill>
              <a:srgbClr val="D9D9D6"/>
            </a:solidFill>
            <a:prstDash val="solid"/>
          </a:ln>
        </p:spPr>
      </p:sp>
      <p:sp>
        <p:nvSpPr>
          <p:cNvPr id="18" name="Text 14"/>
          <p:cNvSpPr/>
          <p:nvPr/>
        </p:nvSpPr>
        <p:spPr>
          <a:xfrm>
            <a:off x="6507328" y="4645152"/>
            <a:ext cx="4678528" cy="365760"/>
          </a:xfrm>
          <a:prstGeom prst="rect">
            <a:avLst/>
          </a:prstGeom>
          <a:noFill/>
          <a:ln/>
        </p:spPr>
        <p:txBody>
          <a:bodyPr wrap="none" lIns="0" tIns="0" rIns="0" bIns="0" rtlCol="0" anchor="ctr" vert="horz">
            <a:normAutofit/>
          </a:bodyPr>
          <a:lstStyle/>
          <a:p>
            <a:pPr algn="l" indent="0" marL="0">
              <a:buNone/>
            </a:pPr>
            <a:r>
              <a:rPr lang="en-US" sz="1300" b="1" dirty="0">
                <a:solidFill>
                  <a:srgbClr val="111114"/>
                </a:solidFill>
                <a:latin typeface="Menlo" pitchFamily="34" charset="0"/>
                <a:ea typeface="Menlo" pitchFamily="34" charset="-122"/>
                <a:cs typeface="Menlo" pitchFamily="34" charset="-120"/>
              </a:rPr>
              <a:t>Case board</a:t>
            </a:r>
            <a:endParaRPr lang="en-US" sz="1300" dirty="0"/>
          </a:p>
        </p:txBody>
      </p:sp>
      <p:sp>
        <p:nvSpPr>
          <p:cNvPr id="19" name="Text 15"/>
          <p:cNvSpPr/>
          <p:nvPr/>
        </p:nvSpPr>
        <p:spPr>
          <a:xfrm>
            <a:off x="6507328" y="5047488"/>
            <a:ext cx="4678528" cy="1005840"/>
          </a:xfrm>
          <a:prstGeom prst="rect">
            <a:avLst/>
          </a:prstGeom>
          <a:noFill/>
          <a:ln/>
        </p:spPr>
        <p:txBody>
          <a:bodyPr wrap="square" lIns="0" tIns="0" rIns="0" bIns="0" rtlCol="0" anchor="t"/>
          <a:lstStyle/>
          <a:p>
            <a:pPr indent="0" marL="0">
              <a:lnSpc>
                <a:spcPct val="125000"/>
              </a:lnSpc>
              <a:buNone/>
            </a:pPr>
            <a:r>
              <a:rPr lang="en-US" sz="1100" dirty="0">
                <a:solidFill>
                  <a:srgbClr val="3A3A3F"/>
                </a:solidFill>
                <a:latin typeface="Helvetica Neue" pitchFamily="34" charset="0"/>
                <a:ea typeface="Helvetica Neue" pitchFamily="34" charset="-122"/>
                <a:cs typeface="Helvetica Neue" pitchFamily="34" charset="-120"/>
              </a:rPr>
              <a:t>Kanban for the team — 28 agents, drag-and-drop, persists to localStorage.</a:t>
            </a:r>
            <a:endParaRPr lang="en-US" sz="1100" dirty="0"/>
          </a:p>
        </p:txBody>
      </p:sp>
      <p:sp>
        <p:nvSpPr>
          <p:cNvPr id="20" name="Text 16"/>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2743200" cy="256032"/>
          </a:xfrm>
          <a:prstGeom prst="rect">
            <a:avLst/>
          </a:prstGeom>
          <a:noFill/>
          <a:ln/>
        </p:spPr>
        <p:txBody>
          <a:bodyPr wrap="square" lIns="0" tIns="0" rIns="0" bIns="0" rtlCol="0" anchor="ctr"/>
          <a:lstStyle/>
          <a:p>
            <a:pPr indent="0" marL="0">
              <a:buNone/>
            </a:pPr>
            <a:r>
              <a:rPr lang="en-US" sz="1100" b="1" spc="100" kern="0" dirty="0">
                <a:solidFill>
                  <a:srgbClr val="111114"/>
                </a:solidFill>
                <a:latin typeface="Helvetica Neue" pitchFamily="34" charset="0"/>
                <a:ea typeface="Helvetica Neue" pitchFamily="34" charset="-122"/>
                <a:cs typeface="Helvetica Neue" pitchFamily="34" charset="-120"/>
              </a:rPr>
              <a:t>Note Master</a:t>
            </a:r>
            <a:endParaRPr lang="en-US" sz="1100" dirty="0"/>
          </a:p>
        </p:txBody>
      </p:sp>
      <p:sp>
        <p:nvSpPr>
          <p:cNvPr id="3" name="Text 1"/>
          <p:cNvSpPr/>
          <p:nvPr/>
        </p:nvSpPr>
        <p:spPr>
          <a:xfrm>
            <a:off x="777240" y="713232"/>
            <a:ext cx="7315200" cy="274320"/>
          </a:xfrm>
          <a:prstGeom prst="rect">
            <a:avLst/>
          </a:prstGeom>
          <a:noFill/>
          <a:ln/>
        </p:spPr>
        <p:txBody>
          <a:bodyPr wrap="square" lIns="0" tIns="0" rIns="0" bIns="0" rtlCol="0" anchor="ctr"/>
          <a:lstStyle/>
          <a:p>
            <a:pPr indent="0" marL="0">
              <a:buNone/>
            </a:pPr>
            <a:r>
              <a:rPr lang="en-US" sz="1100" b="1" spc="300" kern="0" dirty="0">
                <a:solidFill>
                  <a:srgbClr val="0A84FF"/>
                </a:solidFill>
                <a:latin typeface="Helvetica Neue" pitchFamily="34" charset="0"/>
                <a:ea typeface="Helvetica Neue" pitchFamily="34" charset="-122"/>
                <a:cs typeface="Helvetica Neue" pitchFamily="34" charset="-120"/>
              </a:rPr>
              <a:t>STACK &amp; SUMMARY</a:t>
            </a:r>
            <a:endParaRPr lang="en-US" sz="1100" dirty="0"/>
          </a:p>
        </p:txBody>
      </p:sp>
      <p:sp>
        <p:nvSpPr>
          <p:cNvPr id="4" name="Text 2"/>
          <p:cNvSpPr/>
          <p:nvPr/>
        </p:nvSpPr>
        <p:spPr>
          <a:xfrm>
            <a:off x="777240" y="1078992"/>
            <a:ext cx="10637215" cy="914400"/>
          </a:xfrm>
          <a:prstGeom prst="rect">
            <a:avLst/>
          </a:prstGeom>
          <a:noFill/>
          <a:ln/>
        </p:spPr>
        <p:txBody>
          <a:bodyPr wrap="square" lIns="0" tIns="0" rIns="0" bIns="0" rtlCol="0" anchor="t"/>
          <a:lstStyle/>
          <a:p>
            <a:pPr indent="0" marL="0">
              <a:lnSpc>
                <a:spcPct val="100000"/>
              </a:lnSpc>
              <a:buNone/>
            </a:pPr>
            <a:r>
              <a:rPr lang="en-US" sz="3800" b="1" dirty="0">
                <a:solidFill>
                  <a:srgbClr val="111114"/>
                </a:solidFill>
                <a:latin typeface="Helvetica Neue" pitchFamily="34" charset="0"/>
                <a:ea typeface="Helvetica Neue" pitchFamily="34" charset="-122"/>
                <a:cs typeface="Helvetica Neue" pitchFamily="34" charset="-120"/>
              </a:rPr>
              <a:t>Built on a modern, fully-typed stack.</a:t>
            </a:r>
            <a:endParaRPr lang="en-US" sz="3800" dirty="0"/>
          </a:p>
        </p:txBody>
      </p:sp>
      <p:sp>
        <p:nvSpPr>
          <p:cNvPr id="5" name="Shape 3"/>
          <p:cNvSpPr/>
          <p:nvPr/>
        </p:nvSpPr>
        <p:spPr>
          <a:xfrm>
            <a:off x="777240" y="2148840"/>
            <a:ext cx="10637215" cy="0"/>
          </a:xfrm>
          <a:prstGeom prst="line">
            <a:avLst/>
          </a:prstGeom>
          <a:noFill/>
          <a:ln w="6350">
            <a:solidFill>
              <a:srgbClr val="D9D9D6"/>
            </a:solidFill>
            <a:prstDash val="solid"/>
          </a:ln>
        </p:spPr>
      </p:sp>
      <p:sp>
        <p:nvSpPr>
          <p:cNvPr id="6" name="Text 4"/>
          <p:cNvSpPr/>
          <p:nvPr/>
        </p:nvSpPr>
        <p:spPr>
          <a:xfrm>
            <a:off x="777240" y="2560320"/>
            <a:ext cx="1645920" cy="320040"/>
          </a:xfrm>
          <a:prstGeom prst="rect">
            <a:avLst/>
          </a:prstGeom>
          <a:noFill/>
          <a:ln/>
        </p:spPr>
        <p:txBody>
          <a:bodyPr wrap="square" lIns="0" tIns="0" rIns="0" bIns="0" rtlCol="0" anchor="ctr"/>
          <a:lstStyle/>
          <a:p>
            <a:pPr indent="0" marL="0">
              <a:buNone/>
            </a:pPr>
            <a:r>
              <a:rPr lang="en-US" sz="1000" b="1" spc="200" kern="0" dirty="0">
                <a:solidFill>
                  <a:srgbClr val="0A84FF"/>
                </a:solidFill>
                <a:latin typeface="Helvetica Neue" pitchFamily="34" charset="0"/>
                <a:ea typeface="Helvetica Neue" pitchFamily="34" charset="-122"/>
                <a:cs typeface="Helvetica Neue" pitchFamily="34" charset="-120"/>
              </a:rPr>
              <a:t>UI</a:t>
            </a:r>
            <a:endParaRPr lang="en-US" sz="1000" dirty="0"/>
          </a:p>
        </p:txBody>
      </p:sp>
      <p:sp>
        <p:nvSpPr>
          <p:cNvPr id="7" name="Text 5"/>
          <p:cNvSpPr/>
          <p:nvPr/>
        </p:nvSpPr>
        <p:spPr>
          <a:xfrm>
            <a:off x="2514600" y="2560320"/>
            <a:ext cx="8899855" cy="320040"/>
          </a:xfrm>
          <a:prstGeom prst="rect">
            <a:avLst/>
          </a:prstGeom>
          <a:noFill/>
          <a:ln/>
        </p:spPr>
        <p:txBody>
          <a:bodyPr wrap="square" lIns="0" tIns="0" rIns="0" bIns="0" rtlCol="0" anchor="ctr"/>
          <a:lstStyle/>
          <a:p>
            <a:pPr indent="0" marL="0">
              <a:buNone/>
            </a:pPr>
            <a:r>
              <a:rPr lang="en-US" sz="1200" dirty="0">
                <a:solidFill>
                  <a:srgbClr val="111114"/>
                </a:solidFill>
                <a:latin typeface="Menlo" pitchFamily="34" charset="0"/>
                <a:ea typeface="Menlo" pitchFamily="34" charset="-122"/>
                <a:cs typeface="Menlo" pitchFamily="34" charset="-120"/>
              </a:rPr>
              <a:t>React 19 · Vite 8 · Tailwind 4 · Radix UI</a:t>
            </a:r>
            <a:endParaRPr lang="en-US" sz="1200" dirty="0"/>
          </a:p>
        </p:txBody>
      </p:sp>
      <p:sp>
        <p:nvSpPr>
          <p:cNvPr id="8" name="Text 6"/>
          <p:cNvSpPr/>
          <p:nvPr/>
        </p:nvSpPr>
        <p:spPr>
          <a:xfrm>
            <a:off x="777240" y="3017520"/>
            <a:ext cx="1645920" cy="320040"/>
          </a:xfrm>
          <a:prstGeom prst="rect">
            <a:avLst/>
          </a:prstGeom>
          <a:noFill/>
          <a:ln/>
        </p:spPr>
        <p:txBody>
          <a:bodyPr wrap="square" lIns="0" tIns="0" rIns="0" bIns="0" rtlCol="0" anchor="ctr"/>
          <a:lstStyle/>
          <a:p>
            <a:pPr indent="0" marL="0">
              <a:buNone/>
            </a:pPr>
            <a:r>
              <a:rPr lang="en-US" sz="1000" b="1" spc="200" kern="0" dirty="0">
                <a:solidFill>
                  <a:srgbClr val="0A84FF"/>
                </a:solidFill>
                <a:latin typeface="Helvetica Neue" pitchFamily="34" charset="0"/>
                <a:ea typeface="Helvetica Neue" pitchFamily="34" charset="-122"/>
                <a:cs typeface="Helvetica Neue" pitchFamily="34" charset="-120"/>
              </a:rPr>
              <a:t>VOICE</a:t>
            </a:r>
            <a:endParaRPr lang="en-US" sz="1000" dirty="0"/>
          </a:p>
        </p:txBody>
      </p:sp>
      <p:sp>
        <p:nvSpPr>
          <p:cNvPr id="9" name="Text 7"/>
          <p:cNvSpPr/>
          <p:nvPr/>
        </p:nvSpPr>
        <p:spPr>
          <a:xfrm>
            <a:off x="2514600" y="3017520"/>
            <a:ext cx="8899855" cy="320040"/>
          </a:xfrm>
          <a:prstGeom prst="rect">
            <a:avLst/>
          </a:prstGeom>
          <a:noFill/>
          <a:ln/>
        </p:spPr>
        <p:txBody>
          <a:bodyPr wrap="square" lIns="0" tIns="0" rIns="0" bIns="0" rtlCol="0" anchor="ctr"/>
          <a:lstStyle/>
          <a:p>
            <a:pPr indent="0" marL="0">
              <a:buNone/>
            </a:pPr>
            <a:r>
              <a:rPr lang="en-US" sz="1200" dirty="0">
                <a:solidFill>
                  <a:srgbClr val="111114"/>
                </a:solidFill>
                <a:latin typeface="Menlo" pitchFamily="34" charset="0"/>
                <a:ea typeface="Menlo" pitchFamily="34" charset="-122"/>
                <a:cs typeface="Menlo" pitchFamily="34" charset="-120"/>
              </a:rPr>
              <a:t>transformers.js · ONNX Runtime Web · Web Speech API</a:t>
            </a:r>
            <a:endParaRPr lang="en-US" sz="1200" dirty="0"/>
          </a:p>
        </p:txBody>
      </p:sp>
      <p:sp>
        <p:nvSpPr>
          <p:cNvPr id="10" name="Text 8"/>
          <p:cNvSpPr/>
          <p:nvPr/>
        </p:nvSpPr>
        <p:spPr>
          <a:xfrm>
            <a:off x="777240" y="3474720"/>
            <a:ext cx="1645920" cy="320040"/>
          </a:xfrm>
          <a:prstGeom prst="rect">
            <a:avLst/>
          </a:prstGeom>
          <a:noFill/>
          <a:ln/>
        </p:spPr>
        <p:txBody>
          <a:bodyPr wrap="square" lIns="0" tIns="0" rIns="0" bIns="0" rtlCol="0" anchor="ctr"/>
          <a:lstStyle/>
          <a:p>
            <a:pPr indent="0" marL="0">
              <a:buNone/>
            </a:pPr>
            <a:r>
              <a:rPr lang="en-US" sz="1000" b="1" spc="200" kern="0" dirty="0">
                <a:solidFill>
                  <a:srgbClr val="0A84FF"/>
                </a:solidFill>
                <a:latin typeface="Helvetica Neue" pitchFamily="34" charset="0"/>
                <a:ea typeface="Helvetica Neue" pitchFamily="34" charset="-122"/>
                <a:cs typeface="Helvetica Neue" pitchFamily="34" charset="-120"/>
              </a:rPr>
              <a:t>AI</a:t>
            </a:r>
            <a:endParaRPr lang="en-US" sz="1000" dirty="0"/>
          </a:p>
        </p:txBody>
      </p:sp>
      <p:sp>
        <p:nvSpPr>
          <p:cNvPr id="11" name="Text 9"/>
          <p:cNvSpPr/>
          <p:nvPr/>
        </p:nvSpPr>
        <p:spPr>
          <a:xfrm>
            <a:off x="2514600" y="3474720"/>
            <a:ext cx="8899855" cy="320040"/>
          </a:xfrm>
          <a:prstGeom prst="rect">
            <a:avLst/>
          </a:prstGeom>
          <a:noFill/>
          <a:ln/>
        </p:spPr>
        <p:txBody>
          <a:bodyPr wrap="square" lIns="0" tIns="0" rIns="0" bIns="0" rtlCol="0" anchor="ctr"/>
          <a:lstStyle/>
          <a:p>
            <a:pPr indent="0" marL="0">
              <a:buNone/>
            </a:pPr>
            <a:r>
              <a:rPr lang="en-US" sz="1200" dirty="0">
                <a:solidFill>
                  <a:srgbClr val="111114"/>
                </a:solidFill>
                <a:latin typeface="Menlo" pitchFamily="34" charset="0"/>
                <a:ea typeface="Menlo" pitchFamily="34" charset="-122"/>
                <a:cs typeface="Menlo" pitchFamily="34" charset="-120"/>
              </a:rPr>
              <a:t>DeepSeek (cloud) · Qwen 0.5B / 1.5B (local, Web Worker)</a:t>
            </a:r>
            <a:endParaRPr lang="en-US" sz="1200" dirty="0"/>
          </a:p>
        </p:txBody>
      </p:sp>
      <p:sp>
        <p:nvSpPr>
          <p:cNvPr id="12" name="Text 10"/>
          <p:cNvSpPr/>
          <p:nvPr/>
        </p:nvSpPr>
        <p:spPr>
          <a:xfrm>
            <a:off x="777240" y="3931920"/>
            <a:ext cx="1645920" cy="320040"/>
          </a:xfrm>
          <a:prstGeom prst="rect">
            <a:avLst/>
          </a:prstGeom>
          <a:noFill/>
          <a:ln/>
        </p:spPr>
        <p:txBody>
          <a:bodyPr wrap="square" lIns="0" tIns="0" rIns="0" bIns="0" rtlCol="0" anchor="ctr"/>
          <a:lstStyle/>
          <a:p>
            <a:pPr indent="0" marL="0">
              <a:buNone/>
            </a:pPr>
            <a:r>
              <a:rPr lang="en-US" sz="1000" b="1" spc="200" kern="0" dirty="0">
                <a:solidFill>
                  <a:srgbClr val="0A84FF"/>
                </a:solidFill>
                <a:latin typeface="Helvetica Neue" pitchFamily="34" charset="0"/>
                <a:ea typeface="Helvetica Neue" pitchFamily="34" charset="-122"/>
                <a:cs typeface="Helvetica Neue" pitchFamily="34" charset="-120"/>
              </a:rPr>
              <a:t>CONTENT</a:t>
            </a:r>
            <a:endParaRPr lang="en-US" sz="1000" dirty="0"/>
          </a:p>
        </p:txBody>
      </p:sp>
      <p:sp>
        <p:nvSpPr>
          <p:cNvPr id="13" name="Text 11"/>
          <p:cNvSpPr/>
          <p:nvPr/>
        </p:nvSpPr>
        <p:spPr>
          <a:xfrm>
            <a:off x="2514600" y="3931920"/>
            <a:ext cx="8899855" cy="320040"/>
          </a:xfrm>
          <a:prstGeom prst="rect">
            <a:avLst/>
          </a:prstGeom>
          <a:noFill/>
          <a:ln/>
        </p:spPr>
        <p:txBody>
          <a:bodyPr wrap="square" lIns="0" tIns="0" rIns="0" bIns="0" rtlCol="0" anchor="ctr"/>
          <a:lstStyle/>
          <a:p>
            <a:pPr indent="0" marL="0">
              <a:buNone/>
            </a:pPr>
            <a:r>
              <a:rPr lang="en-US" sz="1200" dirty="0">
                <a:solidFill>
                  <a:srgbClr val="111114"/>
                </a:solidFill>
                <a:latin typeface="Menlo" pitchFamily="34" charset="0"/>
                <a:ea typeface="Menlo" pitchFamily="34" charset="-122"/>
                <a:cs typeface="Menlo" pitchFamily="34" charset="-120"/>
              </a:rPr>
              <a:t>Markdown + import.meta.glob · bilingual tokenizer</a:t>
            </a:r>
            <a:endParaRPr lang="en-US" sz="1200" dirty="0"/>
          </a:p>
        </p:txBody>
      </p:sp>
      <p:sp>
        <p:nvSpPr>
          <p:cNvPr id="14" name="Text 12"/>
          <p:cNvSpPr/>
          <p:nvPr/>
        </p:nvSpPr>
        <p:spPr>
          <a:xfrm>
            <a:off x="777240" y="4389120"/>
            <a:ext cx="1645920" cy="320040"/>
          </a:xfrm>
          <a:prstGeom prst="rect">
            <a:avLst/>
          </a:prstGeom>
          <a:noFill/>
          <a:ln/>
        </p:spPr>
        <p:txBody>
          <a:bodyPr wrap="square" lIns="0" tIns="0" rIns="0" bIns="0" rtlCol="0" anchor="ctr"/>
          <a:lstStyle/>
          <a:p>
            <a:pPr indent="0" marL="0">
              <a:buNone/>
            </a:pPr>
            <a:r>
              <a:rPr lang="en-US" sz="1000" b="1" spc="200" kern="0" dirty="0">
                <a:solidFill>
                  <a:srgbClr val="0A84FF"/>
                </a:solidFill>
                <a:latin typeface="Helvetica Neue" pitchFamily="34" charset="0"/>
                <a:ea typeface="Helvetica Neue" pitchFamily="34" charset="-122"/>
                <a:cs typeface="Helvetica Neue" pitchFamily="34" charset="-120"/>
              </a:rPr>
              <a:t>BRIDGE</a:t>
            </a:r>
            <a:endParaRPr lang="en-US" sz="1000" dirty="0"/>
          </a:p>
        </p:txBody>
      </p:sp>
      <p:sp>
        <p:nvSpPr>
          <p:cNvPr id="15" name="Text 13"/>
          <p:cNvSpPr/>
          <p:nvPr/>
        </p:nvSpPr>
        <p:spPr>
          <a:xfrm>
            <a:off x="2514600" y="4389120"/>
            <a:ext cx="8899855" cy="320040"/>
          </a:xfrm>
          <a:prstGeom prst="rect">
            <a:avLst/>
          </a:prstGeom>
          <a:noFill/>
          <a:ln/>
        </p:spPr>
        <p:txBody>
          <a:bodyPr wrap="square" lIns="0" tIns="0" rIns="0" bIns="0" rtlCol="0" anchor="ctr"/>
          <a:lstStyle/>
          <a:p>
            <a:pPr indent="0" marL="0">
              <a:buNone/>
            </a:pPr>
            <a:r>
              <a:rPr lang="en-US" sz="1200" dirty="0">
                <a:solidFill>
                  <a:srgbClr val="111114"/>
                </a:solidFill>
                <a:latin typeface="Menlo" pitchFamily="34" charset="0"/>
                <a:ea typeface="Menlo" pitchFamily="34" charset="-122"/>
                <a:cs typeface="Menlo" pitchFamily="34" charset="-120"/>
              </a:rPr>
              <a:t>Chrome MV3 · externally_connectable + content script</a:t>
            </a:r>
            <a:endParaRPr lang="en-US" sz="1200" dirty="0"/>
          </a:p>
        </p:txBody>
      </p:sp>
      <p:sp>
        <p:nvSpPr>
          <p:cNvPr id="16" name="Text 14"/>
          <p:cNvSpPr/>
          <p:nvPr/>
        </p:nvSpPr>
        <p:spPr>
          <a:xfrm>
            <a:off x="777240" y="4846320"/>
            <a:ext cx="1645920" cy="320040"/>
          </a:xfrm>
          <a:prstGeom prst="rect">
            <a:avLst/>
          </a:prstGeom>
          <a:noFill/>
          <a:ln/>
        </p:spPr>
        <p:txBody>
          <a:bodyPr wrap="square" lIns="0" tIns="0" rIns="0" bIns="0" rtlCol="0" anchor="ctr"/>
          <a:lstStyle/>
          <a:p>
            <a:pPr indent="0" marL="0">
              <a:buNone/>
            </a:pPr>
            <a:r>
              <a:rPr lang="en-US" sz="1000" b="1" spc="200" kern="0" dirty="0">
                <a:solidFill>
                  <a:srgbClr val="0A84FF"/>
                </a:solidFill>
                <a:latin typeface="Helvetica Neue" pitchFamily="34" charset="0"/>
                <a:ea typeface="Helvetica Neue" pitchFamily="34" charset="-122"/>
                <a:cs typeface="Helvetica Neue" pitchFamily="34" charset="-120"/>
              </a:rPr>
              <a:t>NOTES</a:t>
            </a:r>
            <a:endParaRPr lang="en-US" sz="1000" dirty="0"/>
          </a:p>
        </p:txBody>
      </p:sp>
      <p:sp>
        <p:nvSpPr>
          <p:cNvPr id="17" name="Text 15"/>
          <p:cNvSpPr/>
          <p:nvPr/>
        </p:nvSpPr>
        <p:spPr>
          <a:xfrm>
            <a:off x="2514600" y="4846320"/>
            <a:ext cx="8899855" cy="320040"/>
          </a:xfrm>
          <a:prstGeom prst="rect">
            <a:avLst/>
          </a:prstGeom>
          <a:noFill/>
          <a:ln/>
        </p:spPr>
        <p:txBody>
          <a:bodyPr wrap="square" lIns="0" tIns="0" rIns="0" bIns="0" rtlCol="0" anchor="ctr"/>
          <a:lstStyle/>
          <a:p>
            <a:pPr indent="0" marL="0">
              <a:buNone/>
            </a:pPr>
            <a:r>
              <a:rPr lang="en-US" sz="1200" dirty="0">
                <a:solidFill>
                  <a:srgbClr val="111114"/>
                </a:solidFill>
                <a:latin typeface="Menlo" pitchFamily="34" charset="0"/>
                <a:ea typeface="Menlo" pitchFamily="34" charset="-122"/>
                <a:cs typeface="Menlo" pitchFamily="34" charset="-120"/>
              </a:rPr>
              <a:t>v0.2.25 · ~90 components, hooks, libs, workers</a:t>
            </a:r>
            <a:endParaRPr lang="en-US" sz="1200" dirty="0"/>
          </a:p>
        </p:txBody>
      </p:sp>
      <p:sp>
        <p:nvSpPr>
          <p:cNvPr id="18" name="Shape 16"/>
          <p:cNvSpPr/>
          <p:nvPr/>
        </p:nvSpPr>
        <p:spPr>
          <a:xfrm>
            <a:off x="777240" y="5303520"/>
            <a:ext cx="10637215" cy="0"/>
          </a:xfrm>
          <a:prstGeom prst="line">
            <a:avLst/>
          </a:prstGeom>
          <a:noFill/>
          <a:ln w="6350">
            <a:solidFill>
              <a:srgbClr val="D9D9D6"/>
            </a:solidFill>
            <a:prstDash val="solid"/>
          </a:ln>
        </p:spPr>
      </p:sp>
      <p:sp>
        <p:nvSpPr>
          <p:cNvPr id="19" name="Text 17"/>
          <p:cNvSpPr/>
          <p:nvPr/>
        </p:nvSpPr>
        <p:spPr>
          <a:xfrm>
            <a:off x="777240" y="5486400"/>
            <a:ext cx="10637215" cy="731520"/>
          </a:xfrm>
          <a:prstGeom prst="rect">
            <a:avLst/>
          </a:prstGeom>
          <a:noFill/>
          <a:ln/>
        </p:spPr>
        <p:txBody>
          <a:bodyPr wrap="square" lIns="0" tIns="0" rIns="0" bIns="0" rtlCol="0" anchor="ctr"/>
          <a:lstStyle/>
          <a:p>
            <a:pPr indent="0" marL="0">
              <a:buNone/>
            </a:pPr>
            <a:r>
              <a:rPr lang="en-US" sz="3400" b="1" dirty="0">
                <a:solidFill>
                  <a:srgbClr val="111114"/>
                </a:solidFill>
                <a:latin typeface="Helvetica Neue" pitchFamily="34" charset="0"/>
                <a:ea typeface="Helvetica Neue" pitchFamily="34" charset="-122"/>
                <a:cs typeface="Helvetica Neue" pitchFamily="34" charset="-120"/>
              </a:rPr>
              <a:t>Hear. Fill. Ship.</a:t>
            </a:r>
            <a:endParaRPr lang="en-US" sz="3400" dirty="0"/>
          </a:p>
        </p:txBody>
      </p:sp>
      <p:sp>
        <p:nvSpPr>
          <p:cNvPr id="20" name="Text 18"/>
          <p:cNvSpPr/>
          <p:nvPr/>
        </p:nvSpPr>
        <p:spPr>
          <a:xfrm>
            <a:off x="777240" y="6309360"/>
            <a:ext cx="10637215" cy="274320"/>
          </a:xfrm>
          <a:prstGeom prst="rect">
            <a:avLst/>
          </a:prstGeom>
          <a:noFill/>
          <a:ln/>
        </p:spPr>
        <p:txBody>
          <a:bodyPr wrap="square" lIns="0" tIns="0" rIns="0" bIns="0" rtlCol="0" anchor="ctr"/>
          <a:lstStyle/>
          <a:p>
            <a:pPr indent="0" marL="0">
              <a:buNone/>
            </a:pPr>
            <a:r>
              <a:rPr lang="en-US" sz="1000" dirty="0">
                <a:solidFill>
                  <a:srgbClr val="7A7A80"/>
                </a:solidFill>
                <a:latin typeface="Menlo" pitchFamily="34" charset="0"/>
                <a:ea typeface="Menlo" pitchFamily="34" charset="-122"/>
                <a:cs typeface="Menlo" pitchFamily="34" charset="-120"/>
              </a:rPr>
              <a:t>/Users/susul/Dev/econote/note-master</a:t>
            </a:r>
            <a:endParaRPr lang="en-US" sz="1000" dirty="0"/>
          </a:p>
        </p:txBody>
      </p:sp>
      <p:sp>
        <p:nvSpPr>
          <p:cNvPr id="21" name="Text 19"/>
          <p:cNvSpPr/>
          <p:nvPr/>
        </p:nvSpPr>
        <p:spPr>
          <a:xfrm>
            <a:off x="11185855" y="6400800"/>
            <a:ext cx="777240" cy="274320"/>
          </a:xfrm>
          <a:prstGeom prst="rect">
            <a:avLst/>
          </a:prstGeom>
          <a:noFill/>
          <a:ln/>
        </p:spPr>
        <p:txBody>
          <a:bodyPr wrap="square" lIns="0" tIns="0" rIns="0" bIns="0" rtlCol="0" anchor="ctr"/>
          <a:lstStyle/>
          <a:p>
            <a:pPr algn="r" indent="0" marL="0">
              <a:buNone/>
            </a:pPr>
            <a:r>
              <a:rPr lang="en-US" sz="900" dirty="0">
                <a:solidFill>
                  <a:srgbClr val="7A7A80"/>
                </a:solidFill>
                <a:latin typeface="Helvetica Neue" pitchFamily="34" charset="0"/>
                <a:ea typeface="Helvetica Neue" pitchFamily="34" charset="-122"/>
                <a:cs typeface="Helvetica Neue"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Ecovacs CS Tools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 Master — Demo</dc:title>
  <dc:subject>PptxGenJS Presentation</dc:subject>
  <dc:creator>Note Master</dc:creator>
  <cp:lastModifiedBy>Note Master</cp:lastModifiedBy>
  <cp:revision>1</cp:revision>
  <dcterms:created xsi:type="dcterms:W3CDTF">2026-10-07T06:23:40Z</dcterms:created>
  <dcterms:modified xsi:type="dcterms:W3CDTF">2026-10-07T06:23:40Z</dcterms:modified>
</cp:coreProperties>
</file>